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Calibri" pitchFamily="34" charset="0"/>
      <p:regular r:id="rId17"/>
      <p:bold r:id="rId18"/>
      <p:italic r:id="rId19"/>
      <p:boldItalic r:id="rId20"/>
    </p:embeddedFont>
    <p:embeddedFont>
      <p:font typeface="Cambria" pitchFamily="18" charset="0"/>
      <p:regular r:id="rId21"/>
      <p:bold r:id="rId22"/>
      <p:italic r:id="rId23"/>
      <p:boldItalic r:id="rId24"/>
    </p:embeddedFont>
    <p:embeddedFont>
      <p:font typeface="Bookman Old Style" pitchFamily="18" charset="0"/>
      <p:regular r:id="rId25"/>
      <p:bold r:id="rId26"/>
      <p:italic r:id="rId27"/>
      <p:boldItalic r:id="rId28"/>
    </p:embeddedFont>
    <p:embeddedFont>
      <p:font typeface="Gotham" charset="0"/>
      <p:regular r:id="rId29"/>
    </p:embeddedFont>
    <p:embeddedFont>
      <p:font typeface="Gotham Bold Italics" charset="0"/>
      <p:bold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33CC"/>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autoAdjust="0"/>
    <p:restoredTop sz="94622" autoAdjust="0"/>
  </p:normalViewPr>
  <p:slideViewPr>
    <p:cSldViewPr showGuides="1">
      <p:cViewPr>
        <p:scale>
          <a:sx n="49" d="100"/>
          <a:sy n="49" d="100"/>
        </p:scale>
        <p:origin x="-994" y="-21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pic>
        <p:nvPicPr>
          <p:cNvPr id="23" name="Picture 22"/>
          <p:cNvPicPr>
            <a:picLocks noChangeAspect="1"/>
          </p:cNvPicPr>
          <p:nvPr/>
        </p:nvPicPr>
        <p:blipFill>
          <a:blip r:embed="rId2" cstate="print"/>
          <a:stretch>
            <a:fillRect/>
          </a:stretch>
        </p:blipFill>
        <p:spPr>
          <a:xfrm>
            <a:off x="6610443" y="196689"/>
            <a:ext cx="4752247" cy="1360611"/>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a:t>
            </a:r>
            <a:r>
              <a:rPr lang="en-IN" sz="3600" b="1" dirty="0" smtClean="0">
                <a:solidFill>
                  <a:srgbClr val="C00000"/>
                </a:solidFill>
                <a:latin typeface="Arial" panose="020B0604020202020204" pitchFamily="34" charset="0"/>
                <a:cs typeface="Arial" panose="020B0604020202020204" pitchFamily="34" charset="0"/>
              </a:rPr>
              <a:t>24-03-2026</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p:cNvSpPr txBox="1"/>
          <p:nvPr/>
        </p:nvSpPr>
        <p:spPr>
          <a:xfrm>
            <a:off x="1501640" y="6057900"/>
            <a:ext cx="15784162"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Relational Inventory Control &amp; Stock Tracking System</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93870" y="7800539"/>
            <a:ext cx="9067800" cy="147637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smtClean="0">
                <a:latin typeface="Cambria" panose="02040503050406030204" pitchFamily="18" charset="0"/>
                <a:ea typeface="Cambria" panose="02040503050406030204" pitchFamily="18" charset="0"/>
              </a:rPr>
              <a:t>J.PRUDHVI RAJ</a:t>
            </a:r>
            <a:r>
              <a:rPr lang="en-US" sz="3000" dirty="0" smtClean="0">
                <a:latin typeface="Cambria" panose="02040503050406030204" pitchFamily="18" charset="0"/>
                <a:ea typeface="Cambria" panose="02040503050406030204" pitchFamily="18" charset="0"/>
              </a:rPr>
              <a:t> </a:t>
            </a:r>
            <a:r>
              <a:rPr lang="en-US" sz="3000" dirty="0">
                <a:latin typeface="Cambria" panose="02040503050406030204" pitchFamily="18" charset="0"/>
                <a:ea typeface="Cambria" panose="02040503050406030204" pitchFamily="18" charset="0"/>
              </a:rPr>
              <a:t>– </a:t>
            </a:r>
            <a:r>
              <a:rPr lang="en-US" sz="3000" dirty="0" smtClean="0">
                <a:latin typeface="Cambria" panose="02040503050406030204" pitchFamily="18" charset="0"/>
                <a:ea typeface="Cambria" panose="02040503050406030204" pitchFamily="18" charset="0"/>
              </a:rPr>
              <a:t>VTU2</a:t>
            </a:r>
            <a:r>
              <a:rPr lang="en-GB" altLang="en-US" sz="3000" dirty="0" smtClean="0">
                <a:latin typeface="Cambria" panose="02040503050406030204" pitchFamily="18" charset="0"/>
                <a:ea typeface="Cambria" panose="02040503050406030204" pitchFamily="18" charset="0"/>
              </a:rPr>
              <a:t>5575</a:t>
            </a:r>
            <a:r>
              <a:rPr lang="en-US" sz="3000" dirty="0">
                <a:latin typeface="Cambria" panose="02040503050406030204" pitchFamily="18" charset="0"/>
                <a:ea typeface="Cambria" panose="02040503050406030204" pitchFamily="18" charset="0"/>
              </a:rPr>
              <a:t>– </a:t>
            </a:r>
            <a:r>
              <a:rPr lang="en-US" sz="3000" dirty="0" smtClean="0">
                <a:latin typeface="Cambria" panose="02040503050406030204" pitchFamily="18" charset="0"/>
                <a:ea typeface="Cambria" panose="02040503050406030204" pitchFamily="18" charset="0"/>
              </a:rPr>
              <a:t>23UE</a:t>
            </a:r>
            <a:r>
              <a:rPr lang="en-GB" altLang="en-US" sz="3000" dirty="0" smtClean="0">
                <a:latin typeface="Cambria" panose="02040503050406030204" pitchFamily="18" charset="0"/>
                <a:ea typeface="Cambria" panose="02040503050406030204" pitchFamily="18" charset="0"/>
              </a:rPr>
              <a:t>CS0231</a:t>
            </a:r>
          </a:p>
        </p:txBody>
      </p:sp>
      <p:sp>
        <p:nvSpPr>
          <p:cNvPr id="15" name="TextBox 14"/>
          <p:cNvSpPr txBox="1"/>
          <p:nvPr/>
        </p:nvSpPr>
        <p:spPr>
          <a:xfrm>
            <a:off x="10945035" y="7818586"/>
            <a:ext cx="6914603" cy="1523494"/>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IN" sz="3200" dirty="0" err="1">
                <a:latin typeface="Times New Roman" panose="02020603050405020304" pitchFamily="18" charset="0"/>
                <a:cs typeface="Times New Roman" panose="02020603050405020304" pitchFamily="18" charset="0"/>
              </a:rPr>
              <a:t>Dr.</a:t>
            </a:r>
            <a:r>
              <a:rPr lang="en-IN" sz="3200" dirty="0">
                <a:latin typeface="Times New Roman" panose="02020603050405020304" pitchFamily="18" charset="0"/>
                <a:cs typeface="Times New Roman" panose="02020603050405020304" pitchFamily="18" charset="0"/>
              </a:rPr>
              <a:t> </a:t>
            </a:r>
            <a:r>
              <a:rPr lang="en-IN" sz="3200" dirty="0" err="1">
                <a:latin typeface="Times New Roman" panose="02020603050405020304" pitchFamily="18" charset="0"/>
                <a:cs typeface="Times New Roman" panose="02020603050405020304" pitchFamily="18" charset="0"/>
              </a:rPr>
              <a:t>Hafizur</a:t>
            </a:r>
            <a:r>
              <a:rPr lang="en-IN" sz="3200" dirty="0">
                <a:latin typeface="Times New Roman" panose="02020603050405020304" pitchFamily="18" charset="0"/>
                <a:cs typeface="Times New Roman" panose="02020603050405020304" pitchFamily="18" charset="0"/>
              </a:rPr>
              <a:t> </a:t>
            </a:r>
            <a:r>
              <a:rPr lang="en-IN" sz="3200" dirty="0" err="1">
                <a:latin typeface="Times New Roman" panose="02020603050405020304" pitchFamily="18" charset="0"/>
                <a:cs typeface="Times New Roman" panose="02020603050405020304" pitchFamily="18" charset="0"/>
              </a:rPr>
              <a:t>Rahman</a:t>
            </a:r>
            <a:endParaRPr lang="en-IN" sz="30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6" name="TextBox 15"/>
          <p:cNvSpPr txBox="1"/>
          <p:nvPr/>
        </p:nvSpPr>
        <p:spPr>
          <a:xfrm>
            <a:off x="2209800" y="6972300"/>
            <a:ext cx="14743170" cy="400110"/>
          </a:xfrm>
          <a:prstGeom prst="rect">
            <a:avLst/>
          </a:prstGeom>
          <a:noFill/>
        </p:spPr>
        <p:txBody>
          <a:bodyPr wrap="square" rtlCol="0">
            <a:spAutoFit/>
          </a:bodyPr>
          <a:lstStyle/>
          <a:p>
            <a:r>
              <a:rPr lang="en-US" sz="2000" dirty="0"/>
              <a:t>SDG: SDG 9 – Industry, Innovation and Infrastructure</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209800" y="1638300"/>
            <a:ext cx="15082325" cy="6863417"/>
          </a:xfrm>
          <a:prstGeom prst="rect">
            <a:avLst/>
          </a:prstGeom>
          <a:noFill/>
        </p:spPr>
        <p:txBody>
          <a:bodyPr wrap="square" rtlCol="0">
            <a:spAutoFit/>
          </a:bodyPr>
          <a:lstStyle/>
          <a:p>
            <a:pPr algn="just"/>
            <a:r>
              <a:rPr lang="en-US" sz="4000" dirty="0" smtClean="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Inventory management is essential for businesses to track stock and avoid losses.</a:t>
            </a:r>
          </a:p>
          <a:p>
            <a:pPr algn="just"/>
            <a:r>
              <a:rPr lang="en-US" sz="4000" dirty="0">
                <a:latin typeface="Times New Roman" panose="02020603050405020304" pitchFamily="18" charset="0"/>
                <a:cs typeface="Times New Roman" panose="02020603050405020304" pitchFamily="18" charset="0"/>
              </a:rPr>
              <a:t>- Manual systems are time-consuming and prone to human errors.</a:t>
            </a:r>
          </a:p>
          <a:p>
            <a:pPr algn="just"/>
            <a:r>
              <a:rPr lang="en-US" sz="4000" dirty="0">
                <a:latin typeface="Times New Roman" panose="02020603050405020304" pitchFamily="18" charset="0"/>
                <a:cs typeface="Times New Roman" panose="02020603050405020304" pitchFamily="18" charset="0"/>
              </a:rPr>
              <a:t>- This project provides a digital solution for managing inventory efficiently.</a:t>
            </a:r>
          </a:p>
          <a:p>
            <a:pPr algn="just"/>
            <a:r>
              <a:rPr lang="en-US" sz="4000" dirty="0">
                <a:latin typeface="Times New Roman" panose="02020603050405020304" pitchFamily="18" charset="0"/>
                <a:cs typeface="Times New Roman" panose="02020603050405020304" pitchFamily="18" charset="0"/>
              </a:rPr>
              <a:t>- It helps in tracking stock levels, sales, and product details in real time.</a:t>
            </a:r>
          </a:p>
          <a:p>
            <a:pPr algn="just"/>
            <a:r>
              <a:rPr lang="en-US" sz="4000" dirty="0">
                <a:latin typeface="Times New Roman" panose="02020603050405020304" pitchFamily="18" charset="0"/>
                <a:cs typeface="Times New Roman" panose="02020603050405020304" pitchFamily="18" charset="0"/>
              </a:rPr>
              <a:t>- The system improves accuracy, reduces wastage, and saves time.</a:t>
            </a:r>
          </a:p>
          <a:p>
            <a:pPr algn="just"/>
            <a:r>
              <a:rPr lang="en-US" sz="4000" dirty="0">
                <a:latin typeface="Times New Roman" panose="02020603050405020304" pitchFamily="18" charset="0"/>
                <a:cs typeface="Times New Roman" panose="02020603050405020304" pitchFamily="18" charset="0"/>
              </a:rPr>
              <a:t>- It is useful for small and medium-scale businesses.</a:t>
            </a:r>
          </a:p>
          <a:p>
            <a:pPr algn="just"/>
            <a:r>
              <a:rPr lang="en-US" sz="4000" dirty="0">
                <a:latin typeface="Times New Roman" panose="02020603050405020304" pitchFamily="18" charset="0"/>
                <a:cs typeface="Times New Roman" panose="02020603050405020304" pitchFamily="18" charset="0"/>
              </a:rPr>
              <a:t>- The application is built using web technologies with a relational database.</a:t>
            </a:r>
          </a:p>
          <a:p>
            <a:pPr algn="just"/>
            <a:r>
              <a:rPr lang="en-US" sz="4000" dirty="0">
                <a:latin typeface="Times New Roman" panose="02020603050405020304" pitchFamily="18" charset="0"/>
                <a:cs typeface="Times New Roman" panose="02020603050405020304" pitchFamily="18" charset="0"/>
              </a:rPr>
              <a:t>- Overall, it simplifies inventory control and enhances decision-making.</a:t>
            </a:r>
            <a:endParaRPr lang="en-IN" sz="4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15082325" cy="6247864"/>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Many businesses still rely on manual or outdated systems to manage their inventory, which often leads to errors in stock tracking and data inconsistency. The lack of real-time updates results in issues such as overstocking or stock shortages. Manual record-keeping is time-consuming and inefficient, making it difficult to maintain accurate sales and product information. This poor inventory control negatively impacts business decision-making and overall efficiency. Additionally, there is no centralized system to handle all inventory operations effectively. Therefore, there is a need for a reliable and automated system to improve accuracy, efficiency, and overall inventory management.</a:t>
            </a:r>
            <a:endParaRPr lang="en-IN" sz="4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2" name="TextBox 51"/>
          <p:cNvSpPr txBox="1"/>
          <p:nvPr/>
        </p:nvSpPr>
        <p:spPr>
          <a:xfrm>
            <a:off x="2209800" y="1638300"/>
            <a:ext cx="15082325" cy="6740307"/>
          </a:xfrm>
          <a:prstGeom prst="rect">
            <a:avLst/>
          </a:prstGeom>
          <a:noFill/>
        </p:spPr>
        <p:txBody>
          <a:bodyPr wrap="square" rtlCol="0">
            <a:spAutoFit/>
          </a:bodyPr>
          <a:lstStyle/>
          <a:p>
            <a:r>
              <a:rPr lang="en-US" sz="5400" dirty="0">
                <a:latin typeface="Times New Roman" panose="02020603050405020304" pitchFamily="18" charset="0"/>
                <a:cs typeface="Times New Roman" panose="02020603050405020304" pitchFamily="18" charset="0"/>
              </a:rPr>
              <a:t>The main objective of this project is to design and develop a web-based Relational Inventory Control and Stock Tracking System for efficient management of inventory operations. The system aims to reduce manual effort, improve accuracy, and provide real-time updates of stock levels. It also focuses on enhancing data organization, minimizing errors, and supporting better decision-making for businesses.</a:t>
            </a:r>
            <a:endParaRPr lang="en-IN" sz="5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6" name="TextBox 45"/>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15082325" cy="6247864"/>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The proposed system is a web-based Relational Inventory Control and Stock Tracking System designed to automate and simplify inventory management processes. It provides a centralized platform to manage product details, stock levels, and sales information efficiently. The system offers real-time updates, ensuring accurate tracking of inventory and reducing the chances of overstocking or shortages. It eliminates manual errors by maintaining organized digital records and improves overall efficiency. Additionally, the system enhances decision-making by providing reliable data and offers significant advantages over traditional manual systems in terms of speed, accuracy, and ease of use.</a:t>
            </a:r>
            <a:endParaRPr lang="en-IN" sz="4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2" name="TextBox 41"/>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7239000" y="1482969"/>
            <a:ext cx="8610600" cy="7478970"/>
          </a:xfrm>
          <a:prstGeom prst="rect">
            <a:avLst/>
          </a:prstGeom>
          <a:noFill/>
        </p:spPr>
        <p:txBody>
          <a:bodyPr wrap="square" rtlCol="0">
            <a:spAutoFit/>
          </a:bodyPr>
          <a:lstStyle/>
          <a:p>
            <a:r>
              <a:rPr lang="en-US" sz="3200" dirty="0" smtClean="0">
                <a:latin typeface="Times New Roman" panose="02020603050405020304" pitchFamily="18" charset="0"/>
                <a:cs typeface="Times New Roman" panose="02020603050405020304" pitchFamily="18" charset="0"/>
              </a:rPr>
              <a:t>The </a:t>
            </a:r>
            <a:r>
              <a:rPr lang="en-US" sz="3200" dirty="0">
                <a:latin typeface="Times New Roman" panose="02020603050405020304" pitchFamily="18" charset="0"/>
                <a:cs typeface="Times New Roman" panose="02020603050405020304" pitchFamily="18" charset="0"/>
              </a:rPr>
              <a:t>proposed system architecture is designed as a web-based application consisting of input, processing, database, and output components. The input module allows users to enter product details, stock information, and sales data through a user-friendly interface. The processing unit handles data validation, updates stock levels, and manages inventory operations efficiently. All data is stored in a relational database, ensuring consistency, security, and easy retrieval of information. The output module provides real-time reports, stock status, and analysis, helping users make informed decisions. This architecture ensures smooth communication between components and enhances system performance and reliability.</a:t>
            </a:r>
            <a:endParaRPr lang="en-IN" sz="32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stretch>
            <a:fillRect/>
          </a:stretch>
        </p:blipFill>
        <p:spPr>
          <a:xfrm>
            <a:off x="2132330" y="1482725"/>
            <a:ext cx="4676140" cy="73882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7" name="TextBox 46"/>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rotWithShape="1">
          <a:blip r:embed="rId4">
            <a:extLst>
              <a:ext uri="{28A0092B-C50C-407E-A947-70E740481C1C}">
                <a14:useLocalDpi xmlns:a14="http://schemas.microsoft.com/office/drawing/2010/main" xmlns="" val="0"/>
              </a:ext>
            </a:extLst>
          </a:blip>
          <a:srcRect t="17387"/>
          <a:stretch>
            <a:fillRect/>
          </a:stretch>
        </p:blipFill>
        <p:spPr>
          <a:xfrm>
            <a:off x="3124200" y="1854491"/>
            <a:ext cx="12579620" cy="69282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15082325" cy="4154170"/>
          </a:xfrm>
          <a:prstGeom prst="rect">
            <a:avLst/>
          </a:prstGeom>
          <a:noFill/>
        </p:spPr>
        <p:txBody>
          <a:bodyPr wrap="square" rtlCol="0">
            <a:spAutoFit/>
          </a:bodyPr>
          <a:lstStyle/>
          <a:p>
            <a:r>
              <a:rPr lang="en-IN" sz="4400" b="1" dirty="0">
                <a:latin typeface="Times New Roman" panose="02020603050405020304" pitchFamily="18" charset="0"/>
                <a:cs typeface="Times New Roman" panose="02020603050405020304" pitchFamily="18" charset="0"/>
              </a:rPr>
              <a:t>TECHNOLOGIES USED</a:t>
            </a:r>
          </a:p>
          <a:p>
            <a:pPr marL="457200" indent="-457200">
              <a:buFontTx/>
              <a:buChar char="-"/>
            </a:pPr>
            <a:endParaRPr lang="en-IN" sz="4400" dirty="0">
              <a:latin typeface="Times New Roman" panose="02020603050405020304" pitchFamily="18" charset="0"/>
              <a:cs typeface="Times New Roman" panose="02020603050405020304" pitchFamily="18" charset="0"/>
            </a:endParaRPr>
          </a:p>
          <a:p>
            <a:r>
              <a:rPr lang="en-IN" sz="4400" dirty="0">
                <a:latin typeface="Times New Roman" panose="02020603050405020304" pitchFamily="18" charset="0"/>
                <a:cs typeface="Times New Roman" panose="02020603050405020304" pitchFamily="18" charset="0"/>
              </a:rPr>
              <a:t>- Frontend: HTML, CSS, JavaScript</a:t>
            </a:r>
          </a:p>
          <a:p>
            <a:r>
              <a:rPr lang="en-IN" sz="4400" dirty="0">
                <a:latin typeface="Times New Roman" panose="02020603050405020304" pitchFamily="18" charset="0"/>
                <a:cs typeface="Times New Roman" panose="02020603050405020304" pitchFamily="18" charset="0"/>
              </a:rPr>
              <a:t>- Backend: </a:t>
            </a:r>
            <a:r>
              <a:rPr lang="en-GB" altLang="en-IN" sz="4400" dirty="0">
                <a:latin typeface="Times New Roman" panose="02020603050405020304" pitchFamily="18" charset="0"/>
                <a:cs typeface="Times New Roman" panose="02020603050405020304" pitchFamily="18" charset="0"/>
              </a:rPr>
              <a:t>node js</a:t>
            </a:r>
            <a:endParaRPr lang="en-IN" sz="4400" dirty="0">
              <a:latin typeface="Times New Roman" panose="02020603050405020304" pitchFamily="18" charset="0"/>
              <a:cs typeface="Times New Roman" panose="02020603050405020304" pitchFamily="18" charset="0"/>
            </a:endParaRPr>
          </a:p>
          <a:p>
            <a:r>
              <a:rPr lang="en-IN" sz="4400" dirty="0">
                <a:latin typeface="Times New Roman" panose="02020603050405020304" pitchFamily="18" charset="0"/>
                <a:cs typeface="Times New Roman" panose="02020603050405020304" pitchFamily="18" charset="0"/>
              </a:rPr>
              <a:t>- Database: MySQL (Relational Database)</a:t>
            </a:r>
          </a:p>
          <a:p>
            <a:r>
              <a:rPr lang="en-IN" sz="4400" dirty="0">
                <a:latin typeface="Times New Roman" panose="02020603050405020304" pitchFamily="18" charset="0"/>
                <a:cs typeface="Times New Roman" panose="02020603050405020304" pitchFamily="18" charset="0"/>
              </a:rPr>
              <a:t>- Tools: </a:t>
            </a:r>
            <a:r>
              <a:rPr lang="en-IN" sz="4400" dirty="0" smtClean="0">
                <a:latin typeface="Times New Roman" panose="02020603050405020304" pitchFamily="18" charset="0"/>
                <a:cs typeface="Times New Roman" panose="02020603050405020304" pitchFamily="18" charset="0"/>
              </a:rPr>
              <a:t> </a:t>
            </a:r>
            <a:r>
              <a:rPr lang="en-IN" sz="4400" dirty="0">
                <a:latin typeface="Times New Roman" panose="02020603050405020304" pitchFamily="18" charset="0"/>
                <a:cs typeface="Times New Roman" panose="02020603050405020304" pitchFamily="18" charset="0"/>
              </a:rPr>
              <a:t>VS Code, Web Browser (Chrome)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7417415"/>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MODULE DESCRIPTION</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Module 1: User Management  </a:t>
            </a:r>
          </a:p>
          <a:p>
            <a:r>
              <a:rPr lang="en-US" sz="2800" dirty="0">
                <a:latin typeface="Times New Roman" panose="02020603050405020304" pitchFamily="18" charset="0"/>
                <a:cs typeface="Times New Roman" panose="02020603050405020304" pitchFamily="18" charset="0"/>
              </a:rPr>
              <a:t>Handles user registration, login, and authentication for admin and users, ensuring secure access to the system.</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Module 2: Inventory Management  </a:t>
            </a:r>
          </a:p>
          <a:p>
            <a:r>
              <a:rPr lang="en-US" sz="2800" dirty="0">
                <a:latin typeface="Times New Roman" panose="02020603050405020304" pitchFamily="18" charset="0"/>
                <a:cs typeface="Times New Roman" panose="02020603050405020304" pitchFamily="18" charset="0"/>
              </a:rPr>
              <a:t>Manages product details, stock levels, adding, updating, and deleting items in the inventory.</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Module 3: Stock Tracking  </a:t>
            </a:r>
          </a:p>
          <a:p>
            <a:r>
              <a:rPr lang="en-US" sz="2800" dirty="0">
                <a:latin typeface="Times New Roman" panose="02020603050405020304" pitchFamily="18" charset="0"/>
                <a:cs typeface="Times New Roman" panose="02020603050405020304" pitchFamily="18" charset="0"/>
              </a:rPr>
              <a:t>Monitors stock availability in real time and updates inventory based on sales and purchases.</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Module 4: Database Management  </a:t>
            </a:r>
          </a:p>
          <a:p>
            <a:r>
              <a:rPr lang="en-US" sz="2800" dirty="0">
                <a:latin typeface="Times New Roman" panose="02020603050405020304" pitchFamily="18" charset="0"/>
                <a:cs typeface="Times New Roman" panose="02020603050405020304" pitchFamily="18" charset="0"/>
              </a:rPr>
              <a:t>Stores and retrieves data efficiently using a relational database while maintaining data integrity.</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Module 5: Reporting &amp; Analysis  </a:t>
            </a:r>
          </a:p>
          <a:p>
            <a:r>
              <a:rPr lang="en-US" sz="2800" dirty="0">
                <a:latin typeface="Times New Roman" panose="02020603050405020304" pitchFamily="18" charset="0"/>
                <a:cs typeface="Times New Roman" panose="02020603050405020304" pitchFamily="18" charset="0"/>
              </a:rPr>
              <a:t>Generates reports on stock status, sales, and inventory performance to support decision-making.</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Rectangle 1"/>
          <p:cNvSpPr/>
          <p:nvPr/>
        </p:nvSpPr>
        <p:spPr>
          <a:xfrm>
            <a:off x="1981200" y="5215255"/>
            <a:ext cx="6477635" cy="1229995"/>
          </a:xfrm>
          <a:prstGeom prst="rect">
            <a:avLst/>
          </a:prstGeom>
        </p:spPr>
        <p:txBody>
          <a:bodyPr wrap="square">
            <a:spAutoFit/>
          </a:bodyPr>
          <a:lstStyle/>
          <a:p>
            <a:r>
              <a:rPr lang="en-US" altLang="en-GB" sz="2000" b="1" dirty="0">
                <a:latin typeface="Times New Roman" panose="02020603050405020304" pitchFamily="18" charset="0"/>
                <a:cs typeface="Times New Roman" panose="02020603050405020304" pitchFamily="18" charset="0"/>
              </a:rPr>
              <a:t>Admin Sign In</a:t>
            </a:r>
            <a:r>
              <a:rPr lang="en-US" altLang="en-GB" sz="1600" b="1" dirty="0">
                <a:latin typeface="Times New Roman" panose="02020603050405020304" pitchFamily="18" charset="0"/>
                <a:cs typeface="Times New Roman" panose="02020603050405020304" pitchFamily="18" charset="0"/>
              </a:rPr>
              <a:t>:</a:t>
            </a:r>
            <a:endParaRPr lang="en-US" altLang="en-GB" sz="1600" dirty="0">
              <a:latin typeface="Times New Roman" panose="02020603050405020304" pitchFamily="18" charset="0"/>
              <a:cs typeface="Times New Roman" panose="02020603050405020304" pitchFamily="18" charset="0"/>
            </a:endParaRPr>
          </a:p>
          <a:p>
            <a:r>
              <a:rPr lang="en-US" altLang="en-GB" dirty="0">
                <a:latin typeface="Times New Roman" panose="02020603050405020304" pitchFamily="18" charset="0"/>
                <a:cs typeface="Times New Roman" panose="02020603050405020304" pitchFamily="18" charset="0"/>
              </a:rPr>
              <a:t>Allows admin users to log in using email and password.</a:t>
            </a:r>
          </a:p>
          <a:p>
            <a:r>
              <a:rPr lang="en-US" altLang="en-GB" dirty="0">
                <a:latin typeface="Times New Roman" panose="02020603050405020304" pitchFamily="18" charset="0"/>
                <a:cs typeface="Times New Roman" panose="02020603050405020304" pitchFamily="18" charset="0"/>
              </a:rPr>
              <a:t>After successful authentication, admin can manage inventory, users, and system data.</a:t>
            </a:r>
          </a:p>
        </p:txBody>
      </p:sp>
      <p:sp>
        <p:nvSpPr>
          <p:cNvPr id="3" name="Rectangle 2"/>
          <p:cNvSpPr/>
          <p:nvPr/>
        </p:nvSpPr>
        <p:spPr>
          <a:xfrm>
            <a:off x="8477655" y="5400774"/>
            <a:ext cx="9144000" cy="1198880"/>
          </a:xfrm>
          <a:prstGeom prst="rect">
            <a:avLst/>
          </a:prstGeom>
        </p:spPr>
        <p:txBody>
          <a:bodyPr>
            <a:spAutoFit/>
          </a:bodyPr>
          <a:lstStyle/>
          <a:p>
            <a:r>
              <a:rPr lang="en-US" altLang="en-GB" b="1" dirty="0">
                <a:latin typeface="Times New Roman" panose="02020603050405020304" pitchFamily="18" charset="0"/>
                <a:cs typeface="Times New Roman" panose="02020603050405020304" pitchFamily="18" charset="0"/>
              </a:rPr>
              <a:t>Student Sign In</a:t>
            </a:r>
            <a:r>
              <a:rPr lang="en-US" altLang="en-GB" dirty="0">
                <a:latin typeface="Times New Roman" panose="02020603050405020304" pitchFamily="18" charset="0"/>
                <a:cs typeface="Times New Roman" panose="02020603050405020304" pitchFamily="18" charset="0"/>
              </a:rPr>
              <a:t>:</a:t>
            </a:r>
          </a:p>
          <a:p>
            <a:r>
              <a:rPr lang="en-US" altLang="en-GB" dirty="0">
                <a:latin typeface="Times New Roman" panose="02020603050405020304" pitchFamily="18" charset="0"/>
                <a:cs typeface="Times New Roman" panose="02020603050405020304" pitchFamily="18" charset="0"/>
              </a:rPr>
              <a:t>Allows student users to log in using email and password.</a:t>
            </a:r>
          </a:p>
          <a:p>
            <a:r>
              <a:rPr lang="en-US" altLang="en-GB" dirty="0">
                <a:latin typeface="Times New Roman" panose="02020603050405020304" pitchFamily="18" charset="0"/>
                <a:cs typeface="Times New Roman" panose="02020603050405020304" pitchFamily="18" charset="0"/>
              </a:rPr>
              <a:t>After successful login, students can view and access inventory-related data based on their permissions.</a:t>
            </a:r>
          </a:p>
        </p:txBody>
      </p:sp>
      <p:sp>
        <p:nvSpPr>
          <p:cNvPr id="4" name="Rectangle 3"/>
          <p:cNvSpPr/>
          <p:nvPr/>
        </p:nvSpPr>
        <p:spPr>
          <a:xfrm>
            <a:off x="7642360" y="8032748"/>
            <a:ext cx="9144000" cy="922020"/>
          </a:xfrm>
          <a:prstGeom prst="rect">
            <a:avLst/>
          </a:prstGeom>
        </p:spPr>
        <p:txBody>
          <a:bodyPr>
            <a:spAutoFit/>
          </a:bodyPr>
          <a:lstStyle/>
          <a:p>
            <a:r>
              <a:rPr lang="en-US" altLang="en-GB" b="1" dirty="0"/>
              <a:t>Admin Register Page:</a:t>
            </a:r>
          </a:p>
          <a:p>
            <a:r>
              <a:rPr lang="en-US" altLang="en-GB" dirty="0"/>
              <a:t>Allows admin users to create a new account by entering full name, email, and password.</a:t>
            </a:r>
          </a:p>
          <a:p>
            <a:r>
              <a:rPr lang="en-US" altLang="en-GB" dirty="0"/>
              <a:t>After registration, admin can securely log in and manage inventory and system data.</a:t>
            </a:r>
          </a:p>
        </p:txBody>
      </p:sp>
      <p:pic>
        <p:nvPicPr>
          <p:cNvPr id="5" name="Picture 4"/>
          <p:cNvPicPr>
            <a:picLocks noChangeAspect="1"/>
          </p:cNvPicPr>
          <p:nvPr/>
        </p:nvPicPr>
        <p:blipFill>
          <a:blip r:embed="rId4"/>
          <a:stretch>
            <a:fillRect/>
          </a:stretch>
        </p:blipFill>
        <p:spPr>
          <a:xfrm>
            <a:off x="2667000" y="1485900"/>
            <a:ext cx="4544060" cy="3556635"/>
          </a:xfrm>
          <a:prstGeom prst="rect">
            <a:avLst/>
          </a:prstGeom>
        </p:spPr>
      </p:pic>
      <p:pic>
        <p:nvPicPr>
          <p:cNvPr id="6" name="Picture 5"/>
          <p:cNvPicPr>
            <a:picLocks noChangeAspect="1"/>
          </p:cNvPicPr>
          <p:nvPr/>
        </p:nvPicPr>
        <p:blipFill>
          <a:blip r:embed="rId5"/>
          <a:stretch>
            <a:fillRect/>
          </a:stretch>
        </p:blipFill>
        <p:spPr>
          <a:xfrm>
            <a:off x="9296400" y="1333500"/>
            <a:ext cx="4766945" cy="3788410"/>
          </a:xfrm>
          <a:prstGeom prst="rect">
            <a:avLst/>
          </a:prstGeom>
        </p:spPr>
      </p:pic>
      <p:pic>
        <p:nvPicPr>
          <p:cNvPr id="38" name="Picture 37"/>
          <p:cNvPicPr>
            <a:picLocks noChangeAspect="1"/>
          </p:cNvPicPr>
          <p:nvPr/>
        </p:nvPicPr>
        <p:blipFill>
          <a:blip r:embed="rId6"/>
          <a:stretch>
            <a:fillRect/>
          </a:stretch>
        </p:blipFill>
        <p:spPr>
          <a:xfrm>
            <a:off x="3287395" y="6515100"/>
            <a:ext cx="3970655" cy="32219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Rectangle 1"/>
          <p:cNvSpPr/>
          <p:nvPr/>
        </p:nvSpPr>
        <p:spPr>
          <a:xfrm>
            <a:off x="2039566" y="6760050"/>
            <a:ext cx="10464834" cy="1014730"/>
          </a:xfrm>
          <a:prstGeom prst="rect">
            <a:avLst/>
          </a:prstGeom>
        </p:spPr>
        <p:txBody>
          <a:bodyPr wrap="square">
            <a:spAutoFit/>
          </a:bodyPr>
          <a:lstStyle/>
          <a:p>
            <a:r>
              <a:rPr lang="en-US" altLang="en-GB" sz="2000" b="1" dirty="0">
                <a:latin typeface="Times New Roman" panose="02020603050405020304" pitchFamily="18" charset="0"/>
                <a:cs typeface="Times New Roman" panose="02020603050405020304" pitchFamily="18" charset="0"/>
              </a:rPr>
              <a:t>Student Dashboard (Home Page):</a:t>
            </a:r>
            <a:endParaRPr lang="en-US" altLang="en-GB" sz="2000" dirty="0">
              <a:latin typeface="Times New Roman" panose="02020603050405020304" pitchFamily="18" charset="0"/>
              <a:cs typeface="Times New Roman" panose="02020603050405020304" pitchFamily="18" charset="0"/>
            </a:endParaRPr>
          </a:p>
          <a:p>
            <a:r>
              <a:rPr lang="en-US" altLang="en-GB" sz="2000" dirty="0">
                <a:latin typeface="Times New Roman" panose="02020603050405020304" pitchFamily="18" charset="0"/>
                <a:cs typeface="Times New Roman" panose="02020603050405020304" pitchFamily="18" charset="0"/>
              </a:rPr>
              <a:t>Displays an overview of issued items, pending requests, and returned products.</a:t>
            </a:r>
          </a:p>
          <a:p>
            <a:r>
              <a:rPr lang="en-US" altLang="en-GB" sz="2000" dirty="0">
                <a:latin typeface="Times New Roman" panose="02020603050405020304" pitchFamily="18" charset="0"/>
                <a:cs typeface="Times New Roman" panose="02020603050405020304" pitchFamily="18" charset="0"/>
              </a:rPr>
              <a:t>Allows students to view recent products, request new items, and track their inventory activity.</a:t>
            </a:r>
          </a:p>
        </p:txBody>
      </p:sp>
      <p:pic>
        <p:nvPicPr>
          <p:cNvPr id="3" name="Picture 2"/>
          <p:cNvPicPr>
            <a:picLocks noChangeAspect="1"/>
          </p:cNvPicPr>
          <p:nvPr/>
        </p:nvPicPr>
        <p:blipFill>
          <a:blip r:embed="rId4"/>
          <a:stretch>
            <a:fillRect/>
          </a:stretch>
        </p:blipFill>
        <p:spPr>
          <a:xfrm>
            <a:off x="1727835" y="1485900"/>
            <a:ext cx="10586085" cy="50958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Rectangle 1"/>
          <p:cNvSpPr/>
          <p:nvPr/>
        </p:nvSpPr>
        <p:spPr>
          <a:xfrm>
            <a:off x="2004911" y="7760846"/>
            <a:ext cx="9144000" cy="1938020"/>
          </a:xfrm>
          <a:prstGeom prst="rect">
            <a:avLst/>
          </a:prstGeom>
        </p:spPr>
        <p:txBody>
          <a:bodyPr>
            <a:spAutoFit/>
          </a:bodyPr>
          <a:lstStyle/>
          <a:p>
            <a:r>
              <a:rPr lang="en-US" altLang="en-GB" sz="2000" b="1" dirty="0">
                <a:latin typeface="Times New Roman" panose="02020603050405020304" pitchFamily="18" charset="0"/>
                <a:cs typeface="Times New Roman" panose="02020603050405020304" pitchFamily="18" charset="0"/>
              </a:rPr>
              <a:t>Admin Dashboard:</a:t>
            </a:r>
          </a:p>
          <a:p>
            <a:r>
              <a:rPr lang="en-US" altLang="en-GB" sz="2000" dirty="0">
                <a:latin typeface="Times New Roman" panose="02020603050405020304" pitchFamily="18" charset="0"/>
                <a:cs typeface="Times New Roman" panose="02020603050405020304" pitchFamily="18" charset="0"/>
              </a:rPr>
              <a:t>Displays overall inventory details including total products, stock, students, and issued items.</a:t>
            </a:r>
          </a:p>
          <a:p>
            <a:r>
              <a:rPr lang="en-US" altLang="en-GB" sz="2000" dirty="0">
                <a:latin typeface="Times New Roman" panose="02020603050405020304" pitchFamily="18" charset="0"/>
                <a:cs typeface="Times New Roman" panose="02020603050405020304" pitchFamily="18" charset="0"/>
              </a:rPr>
              <a:t>Allows admin to manage inventory, assign products, and monitor stock status.</a:t>
            </a:r>
          </a:p>
          <a:p>
            <a:r>
              <a:rPr lang="en-US" altLang="en-GB" sz="2000" dirty="0">
                <a:latin typeface="Times New Roman" panose="02020603050405020304" pitchFamily="18" charset="0"/>
                <a:cs typeface="Times New Roman" panose="02020603050405020304" pitchFamily="18" charset="0"/>
              </a:rPr>
              <a:t>Provides real-time updates and easy access to recent inventory data for better decision making.</a:t>
            </a:r>
          </a:p>
        </p:txBody>
      </p:sp>
      <p:pic>
        <p:nvPicPr>
          <p:cNvPr id="3" name="Picture 2"/>
          <p:cNvPicPr>
            <a:picLocks noChangeAspect="1"/>
          </p:cNvPicPr>
          <p:nvPr/>
        </p:nvPicPr>
        <p:blipFill>
          <a:blip r:embed="rId4"/>
          <a:srcRect r="815" b="9552"/>
          <a:stretch>
            <a:fillRect/>
          </a:stretch>
        </p:blipFill>
        <p:spPr>
          <a:xfrm>
            <a:off x="2362200" y="1264920"/>
            <a:ext cx="13040995" cy="61341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Rectangle 1"/>
          <p:cNvSpPr/>
          <p:nvPr/>
        </p:nvSpPr>
        <p:spPr>
          <a:xfrm>
            <a:off x="2286000" y="7353040"/>
            <a:ext cx="10287000" cy="1198880"/>
          </a:xfrm>
          <a:prstGeom prst="rect">
            <a:avLst/>
          </a:prstGeom>
        </p:spPr>
        <p:txBody>
          <a:bodyPr wrap="square">
            <a:spAutoFit/>
          </a:bodyPr>
          <a:lstStyle/>
          <a:p>
            <a:r>
              <a:rPr lang="en-US" altLang="en-GB" b="1" dirty="0">
                <a:latin typeface="Times New Roman" panose="02020603050405020304" pitchFamily="18" charset="0"/>
                <a:cs typeface="Times New Roman" panose="02020603050405020304" pitchFamily="18" charset="0"/>
              </a:rPr>
              <a:t>Recent Inventory Section:</a:t>
            </a:r>
          </a:p>
          <a:p>
            <a:r>
              <a:rPr lang="en-US" altLang="en-GB" dirty="0">
                <a:latin typeface="Times New Roman" panose="02020603050405020304" pitchFamily="18" charset="0"/>
                <a:cs typeface="Times New Roman" panose="02020603050405020304" pitchFamily="18" charset="0"/>
              </a:rPr>
              <a:t>Displays recently added products with category, quantity, and stock status.</a:t>
            </a:r>
          </a:p>
          <a:p>
            <a:r>
              <a:rPr lang="en-US" altLang="en-GB" dirty="0">
                <a:latin typeface="Times New Roman" panose="02020603050405020304" pitchFamily="18" charset="0"/>
                <a:cs typeface="Times New Roman" panose="02020603050405020304" pitchFamily="18" charset="0"/>
              </a:rPr>
              <a:t>Helps admin quickly monitor available items and low stock levels.</a:t>
            </a:r>
          </a:p>
          <a:p>
            <a:r>
              <a:rPr lang="en-US" altLang="en-GB" dirty="0">
                <a:latin typeface="Times New Roman" panose="02020603050405020304" pitchFamily="18" charset="0"/>
                <a:cs typeface="Times New Roman" panose="02020603050405020304" pitchFamily="18" charset="0"/>
              </a:rPr>
              <a:t>Provides an organized view of inventory for easy tracking and management.</a:t>
            </a:r>
          </a:p>
        </p:txBody>
      </p:sp>
      <p:pic>
        <p:nvPicPr>
          <p:cNvPr id="3" name="Picture 2"/>
          <p:cNvPicPr>
            <a:picLocks noChangeAspect="1"/>
          </p:cNvPicPr>
          <p:nvPr/>
        </p:nvPicPr>
        <p:blipFill>
          <a:blip r:embed="rId4"/>
          <a:stretch>
            <a:fillRect/>
          </a:stretch>
        </p:blipFill>
        <p:spPr>
          <a:xfrm>
            <a:off x="2514600" y="1866900"/>
            <a:ext cx="14338935" cy="488251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2" name="TextBox 1"/>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Rectangle 2"/>
          <p:cNvSpPr/>
          <p:nvPr/>
        </p:nvSpPr>
        <p:spPr>
          <a:xfrm>
            <a:off x="2971800" y="1701544"/>
            <a:ext cx="9144000" cy="6986528"/>
          </a:xfrm>
          <a:prstGeom prst="rect">
            <a:avLst/>
          </a:prstGeom>
        </p:spPr>
        <p:txBody>
          <a:bodyPr>
            <a:spAutoFit/>
          </a:bodyPr>
          <a:lstStyle/>
          <a:p>
            <a:r>
              <a:rPr lang="en-US" sz="3200" b="1" dirty="0">
                <a:latin typeface="Times New Roman" panose="02020603050405020304" pitchFamily="18" charset="0"/>
                <a:cs typeface="Times New Roman" panose="02020603050405020304" pitchFamily="18" charset="0"/>
              </a:rPr>
              <a:t>ADVANTAGES</a:t>
            </a: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 Reduces manual work and human errors</a:t>
            </a:r>
          </a:p>
          <a:p>
            <a:r>
              <a:rPr lang="en-US" sz="3200" dirty="0">
                <a:latin typeface="Times New Roman" panose="02020603050405020304" pitchFamily="18" charset="0"/>
                <a:cs typeface="Times New Roman" panose="02020603050405020304" pitchFamily="18" charset="0"/>
              </a:rPr>
              <a:t>- Provides real-time stock updates</a:t>
            </a:r>
          </a:p>
          <a:p>
            <a:r>
              <a:rPr lang="en-US" sz="3200" dirty="0">
                <a:latin typeface="Times New Roman" panose="02020603050405020304" pitchFamily="18" charset="0"/>
                <a:cs typeface="Times New Roman" panose="02020603050405020304" pitchFamily="18" charset="0"/>
              </a:rPr>
              <a:t>- Improves accuracy and efficiency</a:t>
            </a:r>
          </a:p>
          <a:p>
            <a:r>
              <a:rPr lang="en-US" sz="3200" dirty="0">
                <a:latin typeface="Times New Roman" panose="02020603050405020304" pitchFamily="18" charset="0"/>
                <a:cs typeface="Times New Roman" panose="02020603050405020304" pitchFamily="18" charset="0"/>
              </a:rPr>
              <a:t>- Easy to use and manage</a:t>
            </a:r>
          </a:p>
          <a:p>
            <a:r>
              <a:rPr lang="en-US" sz="3200" dirty="0">
                <a:latin typeface="Times New Roman" panose="02020603050405020304" pitchFamily="18" charset="0"/>
                <a:cs typeface="Times New Roman" panose="02020603050405020304" pitchFamily="18" charset="0"/>
              </a:rPr>
              <a:t>- Centralized data management system</a:t>
            </a:r>
          </a:p>
          <a:p>
            <a:endParaRPr lang="en-US" sz="32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LIMITATIONS</a:t>
            </a: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 Requires internet or local server setup</a:t>
            </a:r>
          </a:p>
          <a:p>
            <a:r>
              <a:rPr lang="en-US" sz="3200" dirty="0">
                <a:latin typeface="Times New Roman" panose="02020603050405020304" pitchFamily="18" charset="0"/>
                <a:cs typeface="Times New Roman" panose="02020603050405020304" pitchFamily="18" charset="0"/>
              </a:rPr>
              <a:t>- Initial setup and configuration needed</a:t>
            </a:r>
          </a:p>
          <a:p>
            <a:r>
              <a:rPr lang="en-US" sz="3200" dirty="0">
                <a:latin typeface="Times New Roman" panose="02020603050405020304" pitchFamily="18" charset="0"/>
                <a:cs typeface="Times New Roman" panose="02020603050405020304" pitchFamily="18" charset="0"/>
              </a:rPr>
              <a:t>- Limited scalability for very large businesses</a:t>
            </a:r>
          </a:p>
          <a:p>
            <a:r>
              <a:rPr lang="en-US" sz="3200" dirty="0">
                <a:latin typeface="Times New Roman" panose="02020603050405020304" pitchFamily="18" charset="0"/>
                <a:cs typeface="Times New Roman" panose="02020603050405020304" pitchFamily="18" charset="0"/>
              </a:rPr>
              <a:t>- Depends on system maintenance and updates</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1138</Words>
  <Application>WPS Presentation</Application>
  <PresentationFormat>Custom</PresentationFormat>
  <Paragraphs>231</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Cambria</vt:lpstr>
      <vt:lpstr>Bookman Old Style</vt:lpstr>
      <vt:lpstr>Times New Roman</vt:lpstr>
      <vt:lpstr>Gotham</vt:lpstr>
      <vt:lpstr>Gotham Bold Italics</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ACER</dc:creator>
  <cp:lastModifiedBy>DELL</cp:lastModifiedBy>
  <cp:revision>20</cp:revision>
  <dcterms:created xsi:type="dcterms:W3CDTF">2006-08-16T00:00:00Z</dcterms:created>
  <dcterms:modified xsi:type="dcterms:W3CDTF">2026-03-26T16:38:58Z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5890A52DBF8548F2960181428A31B3C4_13</vt:lpwstr>
  </property>
  <property fmtid="{D5CDD505-2E9C-101B-9397-08002B2CF9AE}" pid="3" name="KSOProductBuildVer">
    <vt:lpwstr>2057-12.2.0.23196</vt:lpwstr>
  </property>
</Properties>
</file>