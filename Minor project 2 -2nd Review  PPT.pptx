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046" r:id="rId1"/>
  </p:sldMasterIdLst>
  <p:notesMasterIdLst>
    <p:notesMasterId r:id="rId20"/>
  </p:notesMasterIdLst>
  <p:sldIdLst>
    <p:sldId id="256" r:id="rId2"/>
    <p:sldId id="257" r:id="rId3"/>
    <p:sldId id="258" r:id="rId4"/>
    <p:sldId id="259" r:id="rId5"/>
    <p:sldId id="260" r:id="rId6"/>
    <p:sldId id="261" r:id="rId7"/>
    <p:sldId id="262" r:id="rId8"/>
    <p:sldId id="264" r:id="rId9"/>
    <p:sldId id="265" r:id="rId10"/>
    <p:sldId id="266" r:id="rId11"/>
    <p:sldId id="267" r:id="rId12"/>
    <p:sldId id="263" r:id="rId13"/>
    <p:sldId id="272" r:id="rId14"/>
    <p:sldId id="273" r:id="rId15"/>
    <p:sldId id="268" r:id="rId16"/>
    <p:sldId id="269" r:id="rId17"/>
    <p:sldId id="270" r:id="rId18"/>
    <p:sldId id="271" r:id="rId19"/>
  </p:sldIdLst>
  <p:sldSz cx="9144000" cy="5143500" type="screen16x9"/>
  <p:notesSz cx="6797675" cy="9926638"/>
  <p:defaultTextStyle>
    <a:defPPr lvl="0">
      <a:defRPr lang="en-US"/>
    </a:defPPr>
    <a:lvl1pPr lvl="0" algn="l" rtl="0" eaLnBrk="0" fontAlgn="base" hangingPunct="0">
      <a:spcBef>
        <a:spcPct val="0"/>
      </a:spcBef>
      <a:spcAft>
        <a:spcPct val="0"/>
      </a:spcAft>
      <a:defRPr kern="1200">
        <a:solidFill>
          <a:schemeClr val="tx1"/>
        </a:solidFill>
        <a:latin typeface="Arial" charset="0"/>
        <a:ea typeface="+mn-ea"/>
        <a:cs typeface="Arial" charset="0"/>
      </a:defRPr>
    </a:lvl1pPr>
    <a:lvl2pPr marL="457200" lvl="1" algn="l" rtl="0" eaLnBrk="0" fontAlgn="base" hangingPunct="0">
      <a:spcBef>
        <a:spcPct val="0"/>
      </a:spcBef>
      <a:spcAft>
        <a:spcPct val="0"/>
      </a:spcAft>
      <a:defRPr kern="1200">
        <a:solidFill>
          <a:schemeClr val="tx1"/>
        </a:solidFill>
        <a:latin typeface="Arial" charset="0"/>
        <a:ea typeface="+mn-ea"/>
        <a:cs typeface="Arial" charset="0"/>
      </a:defRPr>
    </a:lvl2pPr>
    <a:lvl3pPr marL="914400" lvl="2" algn="l" rtl="0" eaLnBrk="0" fontAlgn="base" hangingPunct="0">
      <a:spcBef>
        <a:spcPct val="0"/>
      </a:spcBef>
      <a:spcAft>
        <a:spcPct val="0"/>
      </a:spcAft>
      <a:defRPr kern="1200">
        <a:solidFill>
          <a:schemeClr val="tx1"/>
        </a:solidFill>
        <a:latin typeface="Arial" charset="0"/>
        <a:ea typeface="+mn-ea"/>
        <a:cs typeface="Arial" charset="0"/>
      </a:defRPr>
    </a:lvl3pPr>
    <a:lvl4pPr marL="1371600" lvl="3" algn="l" rtl="0" eaLnBrk="0" fontAlgn="base" hangingPunct="0">
      <a:spcBef>
        <a:spcPct val="0"/>
      </a:spcBef>
      <a:spcAft>
        <a:spcPct val="0"/>
      </a:spcAft>
      <a:defRPr kern="1200">
        <a:solidFill>
          <a:schemeClr val="tx1"/>
        </a:solidFill>
        <a:latin typeface="Arial" charset="0"/>
        <a:ea typeface="+mn-ea"/>
        <a:cs typeface="Arial" charset="0"/>
      </a:defRPr>
    </a:lvl4pPr>
    <a:lvl5pPr marL="1828800" lvl="4" algn="l" rtl="0" eaLnBrk="0" fontAlgn="base" hangingPunct="0">
      <a:spcBef>
        <a:spcPct val="0"/>
      </a:spcBef>
      <a:spcAft>
        <a:spcPct val="0"/>
      </a:spcAft>
      <a:defRPr kern="1200">
        <a:solidFill>
          <a:schemeClr val="tx1"/>
        </a:solidFill>
        <a:latin typeface="Arial" charset="0"/>
        <a:ea typeface="+mn-ea"/>
        <a:cs typeface="Arial" charset="0"/>
      </a:defRPr>
    </a:lvl5pPr>
    <a:lvl6pPr marL="2286000" lvl="5" algn="l" defTabSz="914400" rtl="0" eaLnBrk="1" latinLnBrk="0" hangingPunct="1">
      <a:defRPr kern="1200">
        <a:solidFill>
          <a:schemeClr val="tx1"/>
        </a:solidFill>
        <a:latin typeface="Arial" charset="0"/>
        <a:ea typeface="+mn-ea"/>
        <a:cs typeface="Arial" charset="0"/>
      </a:defRPr>
    </a:lvl6pPr>
    <a:lvl7pPr marL="2743200" lvl="6" algn="l" defTabSz="914400" rtl="0" eaLnBrk="1" latinLnBrk="0" hangingPunct="1">
      <a:defRPr kern="1200">
        <a:solidFill>
          <a:schemeClr val="tx1"/>
        </a:solidFill>
        <a:latin typeface="Arial" charset="0"/>
        <a:ea typeface="+mn-ea"/>
        <a:cs typeface="Arial" charset="0"/>
      </a:defRPr>
    </a:lvl7pPr>
    <a:lvl8pPr marL="3200400" lvl="7" algn="l" defTabSz="914400" rtl="0" eaLnBrk="1" latinLnBrk="0" hangingPunct="1">
      <a:defRPr kern="1200">
        <a:solidFill>
          <a:schemeClr val="tx1"/>
        </a:solidFill>
        <a:latin typeface="Arial" charset="0"/>
        <a:ea typeface="+mn-ea"/>
        <a:cs typeface="Arial" charset="0"/>
      </a:defRPr>
    </a:lvl8pPr>
    <a:lvl9pPr marL="3657600" lvl="8"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0" d="100"/>
          <a:sy n="110" d="100"/>
        </p:scale>
        <p:origin x="-658" y="-72"/>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4/10/2026</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xmlns="" val="22483742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smtClean="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a:defRPr/>
            </a:pPr>
            <a:fld id="{96A0B9A4-208B-4E16-B555-2A51F0BFB952}"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C0A8E10E-36D1-42AB-939C-34BEB33CD9E4}" type="slidenum">
              <a:rPr lang="en-US" altLang="en-US" smtClean="0"/>
              <a:pPr>
                <a:defRPr/>
              </a:pPr>
              <a:t>‹#›</a:t>
            </a:fld>
            <a:endParaRPr lang="en-US" altLang="en-US"/>
          </a:p>
        </p:txBody>
      </p:sp>
    </p:spTree>
    <p:extLst>
      <p:ext uri="{BB962C8B-B14F-4D97-AF65-F5344CB8AC3E}">
        <p14:creationId xmlns:p14="http://schemas.microsoft.com/office/powerpoint/2010/main" xmlns="" val="32793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a:defRPr/>
            </a:pPr>
            <a:fld id="{BB9E9B86-2CF4-48B1-B6D7-BAFE5AD3290E}"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Tree>
    <p:extLst>
      <p:ext uri="{BB962C8B-B14F-4D97-AF65-F5344CB8AC3E}">
        <p14:creationId xmlns:p14="http://schemas.microsoft.com/office/powerpoint/2010/main" xmlns="" val="147426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4E39A8A3-5E40-4D37-96BF-4D03983E50A4}"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BEE0AD74-942B-45F6-8EEE-203197083F56}" type="slidenum">
              <a:rPr lang="en-US" altLang="en-US" smtClean="0"/>
              <a:pPr>
                <a:defRPr/>
              </a:pPr>
              <a:t>‹#›</a:t>
            </a:fld>
            <a:endParaRPr lang="en-US" altLang="en-US"/>
          </a:p>
        </p:txBody>
      </p:sp>
    </p:spTree>
    <p:extLst>
      <p:ext uri="{BB962C8B-B14F-4D97-AF65-F5344CB8AC3E}">
        <p14:creationId xmlns:p14="http://schemas.microsoft.com/office/powerpoint/2010/main" xmlns="" val="1977922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a:defRPr/>
            </a:pPr>
            <a:fld id="{ECD3C294-6E8C-44B4-98BA-B71F441E11DA}" type="datetime3">
              <a:rPr lang="en-US" smtClean="0"/>
              <a:pPr>
                <a:defRPr/>
              </a:pPr>
              <a:t>10 April 2026</a:t>
            </a:fld>
            <a:endParaRPr lang="en-US" dirty="0"/>
          </a:p>
        </p:txBody>
      </p:sp>
      <p:sp>
        <p:nvSpPr>
          <p:cNvPr id="6" name="Footer Placeholder 5"/>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Tree>
    <p:extLst>
      <p:ext uri="{BB962C8B-B14F-4D97-AF65-F5344CB8AC3E}">
        <p14:creationId xmlns:p14="http://schemas.microsoft.com/office/powerpoint/2010/main" xmlns="" val="3397445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a:defRPr/>
            </a:pPr>
            <a:fld id="{D35EB36B-7579-4E22-A75C-1F345D5742FF}" type="datetime3">
              <a:rPr lang="en-US" smtClean="0"/>
              <a:pPr>
                <a:defRPr/>
              </a:pPr>
              <a:t>10 April 2026</a:t>
            </a:fld>
            <a:endParaRPr lang="en-US" dirty="0"/>
          </a:p>
        </p:txBody>
      </p:sp>
      <p:sp>
        <p:nvSpPr>
          <p:cNvPr id="8" name="Footer Placeholder 7"/>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Tree>
    <p:extLst>
      <p:ext uri="{BB962C8B-B14F-4D97-AF65-F5344CB8AC3E}">
        <p14:creationId xmlns:p14="http://schemas.microsoft.com/office/powerpoint/2010/main" xmlns="" val="18201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a:defRPr/>
            </a:pPr>
            <a:fld id="{719CF55F-6193-48A8-A7F6-3FEF82D24804}" type="datetime3">
              <a:rPr lang="en-US" smtClean="0"/>
              <a:pPr>
                <a:defRPr/>
              </a:pPr>
              <a:t>10 April 2026</a:t>
            </a:fld>
            <a:endParaRPr lang="en-US" dirty="0"/>
          </a:p>
        </p:txBody>
      </p:sp>
      <p:sp>
        <p:nvSpPr>
          <p:cNvPr id="4" name="Footer Placeholder 3"/>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Tree>
    <p:extLst>
      <p:ext uri="{BB962C8B-B14F-4D97-AF65-F5344CB8AC3E}">
        <p14:creationId xmlns:p14="http://schemas.microsoft.com/office/powerpoint/2010/main" xmlns="" val="3459019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401020D-54A8-4FFB-A1CA-FD4B919658D9}" type="datetime3">
              <a:rPr lang="en-US" smtClean="0"/>
              <a:pPr>
                <a:defRPr/>
              </a:pPr>
              <a:t>10 April 2026</a:t>
            </a:fld>
            <a:endParaRPr lang="en-US" dirty="0"/>
          </a:p>
        </p:txBody>
      </p:sp>
      <p:sp>
        <p:nvSpPr>
          <p:cNvPr id="3" name="Footer Placeholder 2"/>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Tree>
    <p:extLst>
      <p:ext uri="{BB962C8B-B14F-4D97-AF65-F5344CB8AC3E}">
        <p14:creationId xmlns:p14="http://schemas.microsoft.com/office/powerpoint/2010/main" xmlns="" val="3391911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04787"/>
            <a:ext cx="3008313" cy="871538"/>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7"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B23D5D28-C9FF-4D3A-BB99-C138B6E9F587}" type="datetime3">
              <a:rPr lang="en-US" smtClean="0"/>
              <a:pPr>
                <a:defRPr/>
              </a:pPr>
              <a:t>10 April 2026</a:t>
            </a:fld>
            <a:endParaRPr lang="en-US" dirty="0"/>
          </a:p>
        </p:txBody>
      </p:sp>
      <p:sp>
        <p:nvSpPr>
          <p:cNvPr id="6" name="Footer Placeholder 5"/>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Tree>
    <p:extLst>
      <p:ext uri="{BB962C8B-B14F-4D97-AF65-F5344CB8AC3E}">
        <p14:creationId xmlns:p14="http://schemas.microsoft.com/office/powerpoint/2010/main" xmlns="" val="32435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E38681E7-1AF9-42CC-BEC0-592AA2C12F55}" type="datetime3">
              <a:rPr lang="en-US" smtClean="0"/>
              <a:pPr>
                <a:defRPr/>
              </a:pPr>
              <a:t>10 April 2026</a:t>
            </a:fld>
            <a:endParaRPr lang="en-US" dirty="0"/>
          </a:p>
        </p:txBody>
      </p:sp>
      <p:sp>
        <p:nvSpPr>
          <p:cNvPr id="6" name="Footer Placeholder 5"/>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Tree>
    <p:extLst>
      <p:ext uri="{BB962C8B-B14F-4D97-AF65-F5344CB8AC3E}">
        <p14:creationId xmlns:p14="http://schemas.microsoft.com/office/powerpoint/2010/main" xmlns="" val="199975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a:defRPr/>
            </a:pPr>
            <a:fld id="{2D2E4B7A-DF25-4C56-B396-6170996E16F8}"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extLst>
      <p:ext uri="{BB962C8B-B14F-4D97-AF65-F5344CB8AC3E}">
        <p14:creationId xmlns:p14="http://schemas.microsoft.com/office/powerpoint/2010/main" xmlns="" val="245842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a:defRPr/>
            </a:pPr>
            <a:fld id="{C40D5A71-0894-4150-92A8-237524E8F949}"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smtClean="0"/>
              <a:t>BATCH NO:          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Tree>
    <p:extLst>
      <p:ext uri="{BB962C8B-B14F-4D97-AF65-F5344CB8AC3E}">
        <p14:creationId xmlns:p14="http://schemas.microsoft.com/office/powerpoint/2010/main" xmlns="" val="68046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0B68EF4-4A93-4254-93FA-70D1F2A755E3}" type="datetime3">
              <a:rPr lang="en-US" smtClean="0"/>
              <a:pPr>
                <a:defRPr/>
              </a:pPr>
              <a:t>10 April 2026</a:t>
            </a:fld>
            <a:endParaRPr lang="en-US"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BATCH NO:          DEPARTMENT OF COMPUTER SCIENCE &amp; ENGINEERING </a:t>
            </a: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78D2778-B29C-49DB-A26C-44F5760A332D}" type="slidenum">
              <a:rPr lang="en-US" altLang="en-US" smtClean="0"/>
              <a:pPr>
                <a:defRPr/>
              </a:pPr>
              <a:t>‹#›</a:t>
            </a:fld>
            <a:endParaRPr lang="en-US" altLang="en-US"/>
          </a:p>
        </p:txBody>
      </p:sp>
    </p:spTree>
    <p:extLst>
      <p:ext uri="{BB962C8B-B14F-4D97-AF65-F5344CB8AC3E}">
        <p14:creationId xmlns:p14="http://schemas.microsoft.com/office/powerpoint/2010/main" xmlns="" val="4095312722"/>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pPr>
              <a:defRPr/>
            </a:pPr>
            <a:r>
              <a:rPr lang="en-GB" dirty="0" smtClean="0"/>
              <a:t>10 </a:t>
            </a:r>
            <a:r>
              <a:rPr lang="en-GB" dirty="0" smtClean="0"/>
              <a:t>A</a:t>
            </a:r>
            <a:r>
              <a:rPr lang="en-GB" dirty="0" smtClean="0"/>
              <a:t>pril 2026</a:t>
            </a:r>
            <a:endParaRPr lang="en-US" dirty="0"/>
          </a:p>
        </p:txBody>
      </p:sp>
      <p:sp>
        <p:nvSpPr>
          <p:cNvPr id="5" name="Footer Placeholder 4"/>
          <p:cNvSpPr>
            <a:spLocks noGrp="1"/>
          </p:cNvSpPr>
          <p:nvPr>
            <p:ph type="ftr" sz="quarter" idx="11"/>
          </p:nvPr>
        </p:nvSpPr>
        <p:spPr>
          <a:xfrm>
            <a:off x="1799358" y="1393680"/>
            <a:ext cx="6001617" cy="1059873"/>
          </a:xfrm>
        </p:spPr>
        <p:txBody>
          <a:bodyPr/>
          <a:lstStyle/>
          <a:p>
            <a:pPr algn="ctr">
              <a:defRPr/>
            </a:pPr>
            <a:endParaRPr lang="en-US" sz="1400" b="1" dirty="0" smtClean="0">
              <a:solidFill>
                <a:srgbClr val="051D40"/>
              </a:solidFill>
              <a:latin typeface="Times New Roman" pitchFamily="18" charset="0"/>
              <a:ea typeface="Open Sans Extra Bold"/>
              <a:cs typeface="Times New Roman" pitchFamily="18" charset="0"/>
              <a:sym typeface="Open Sans Extra Bold"/>
            </a:endParaRP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SCHOOL OF COMPUTING</a:t>
            </a:r>
          </a:p>
          <a:p>
            <a:pPr algn="ctr">
              <a:defRPr/>
            </a:pPr>
            <a:r>
              <a:rPr lang="en-US" sz="1400" b="1" dirty="0" smtClean="0">
                <a:solidFill>
                  <a:srgbClr val="051D40"/>
                </a:solidFill>
                <a:latin typeface="Times New Roman" pitchFamily="18" charset="0"/>
                <a:ea typeface="Open Sans Extra Bold"/>
                <a:cs typeface="Times New Roman" pitchFamily="18" charset="0"/>
                <a:sym typeface="Open Sans Extra Bold"/>
              </a:rPr>
              <a:t>DEPARTMENT OF COMPUTER SCIENCE &amp; ENGINEERING</a:t>
            </a:r>
          </a:p>
          <a:p>
            <a:pPr algn="ctr">
              <a:defRPr/>
            </a:pPr>
            <a:r>
              <a:rPr lang="en-US" sz="1400" b="1" dirty="0" smtClean="0">
                <a:solidFill>
                  <a:srgbClr val="051D40"/>
                </a:solidFill>
                <a:latin typeface="Times New Roman" pitchFamily="18" charset="0"/>
                <a:ea typeface="Open Sans Extra Bold"/>
                <a:cs typeface="Times New Roman" pitchFamily="18" charset="0"/>
                <a:sym typeface="Open Sans Extra Bold"/>
              </a:rPr>
              <a:t>10214CS602- MINOR PROJECT – II</a:t>
            </a:r>
          </a:p>
          <a:p>
            <a:pPr algn="ctr">
              <a:defRPr/>
            </a:pPr>
            <a:r>
              <a:rPr lang="en-US" sz="1400" b="1" dirty="0" smtClean="0">
                <a:solidFill>
                  <a:srgbClr val="051D40"/>
                </a:solidFill>
                <a:latin typeface="Times New Roman" pitchFamily="18" charset="0"/>
                <a:ea typeface="Open Sans Extra Bold"/>
                <a:cs typeface="Times New Roman" pitchFamily="18" charset="0"/>
                <a:sym typeface="Open Sans Extra Bold"/>
              </a:rPr>
              <a:t>ACADEMIC YEAR : 2025-2026(WINTER SEMESTER)</a:t>
            </a:r>
          </a:p>
          <a:p>
            <a:pPr algn="ctr">
              <a:defRPr/>
            </a:pPr>
            <a:endParaRPr lang="en-US" sz="1400" b="1" dirty="0">
              <a:solidFill>
                <a:srgbClr val="051D40"/>
              </a:solidFill>
              <a:latin typeface="Open Sans Extra Bold"/>
              <a:ea typeface="Open Sans Extra Bold"/>
              <a:cs typeface="Open Sans Extra Bold"/>
              <a:sym typeface="Open Sans Extra Bold"/>
            </a:endParaRPr>
          </a:p>
          <a:p>
            <a:pPr algn="ctr">
              <a:defRPr/>
            </a:pPr>
            <a:r>
              <a:rPr lang="en-US" sz="1400" b="1" dirty="0" smtClean="0">
                <a:solidFill>
                  <a:srgbClr val="051D40"/>
                </a:solidFill>
                <a:latin typeface="Times New Roman" pitchFamily="18" charset="0"/>
                <a:ea typeface="Open Sans Extra Bold"/>
                <a:cs typeface="Times New Roman" pitchFamily="18" charset="0"/>
                <a:sym typeface="Open Sans Extra Bold"/>
              </a:rPr>
              <a:t> </a:t>
            </a:r>
            <a:endParaRPr lang="en-US" b="1"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normAutofit lnSpcReduction="10000"/>
          </a:bodyPr>
          <a:lstStyle/>
          <a:p>
            <a:fld id="{C8B3AA75-1EA1-4A20-9182-A423EE2FFA8F}" type="slidenum">
              <a:rPr lang="en-US" altLang="en-US"/>
              <a:pPr/>
              <a:t>1</a:t>
            </a:fld>
            <a:endParaRPr lang="en-US" altLang="en-US"/>
          </a:p>
        </p:txBody>
      </p:sp>
      <p:sp>
        <p:nvSpPr>
          <p:cNvPr id="8197" name="TextBox 6"/>
          <p:cNvSpPr txBox="1">
            <a:spLocks noChangeArrowheads="1"/>
          </p:cNvSpPr>
          <p:nvPr/>
        </p:nvSpPr>
        <p:spPr bwMode="auto">
          <a:xfrm flipH="1">
            <a:off x="284018" y="2828060"/>
            <a:ext cx="4308763" cy="1015663"/>
          </a:xfrm>
          <a:prstGeom prst="rect">
            <a:avLst/>
          </a:prstGeom>
          <a:noFill/>
          <a:ln w="9525">
            <a:noFill/>
            <a:miter lim="800000"/>
            <a:headEnd/>
            <a:tailEnd/>
          </a:ln>
        </p:spPr>
        <p:txBody>
          <a:bodyPr wrap="square">
            <a:spAutoFit/>
          </a:bodyPr>
          <a:lstStyle/>
          <a:p>
            <a:pPr algn="ctr" eaLnBrk="1" fontAlgn="auto" hangingPunct="1">
              <a:spcAft>
                <a:spcPts val="0"/>
              </a:spcAft>
              <a:defRPr/>
            </a:pPr>
            <a:r>
              <a:rPr lang="en-US" sz="1200" b="1" dirty="0" smtClean="0">
                <a:solidFill>
                  <a:srgbClr val="051D40"/>
                </a:solidFill>
                <a:latin typeface="Times New Roman" panose="02020603050405020304" pitchFamily="18" charset="0"/>
                <a:ea typeface="Open Sans Extra Bold"/>
                <a:cs typeface="Times New Roman" panose="02020603050405020304" pitchFamily="18" charset="0"/>
                <a:sym typeface="Open Sans Extra Bold"/>
              </a:rPr>
              <a:t>	PRESENTED BY</a:t>
            </a:r>
          </a:p>
          <a:p>
            <a:pPr marL="228600" indent="-228600" algn="just" eaLnBrk="1" fontAlgn="auto" hangingPunct="1">
              <a:spcAft>
                <a:spcPts val="0"/>
              </a:spcAft>
              <a:buFont typeface="+mj-lt"/>
              <a:buAutoNum type="arabicPeriod"/>
              <a:defRPr/>
            </a:pPr>
            <a:r>
              <a:rPr lang="en-IN" sz="1200" b="1" dirty="0" err="1" smtClean="0">
                <a:latin typeface="Times New Roman" panose="02020603050405020304" pitchFamily="18" charset="0"/>
                <a:cs typeface="Times New Roman" panose="02020603050405020304" pitchFamily="18" charset="0"/>
              </a:rPr>
              <a:t>L.SeshaSai</a:t>
            </a:r>
            <a:r>
              <a:rPr lang="en-IN" sz="1200" b="1" dirty="0" smtClean="0">
                <a:latin typeface="Times New Roman" panose="02020603050405020304" pitchFamily="18" charset="0"/>
                <a:cs typeface="Times New Roman" panose="02020603050405020304" pitchFamily="18" charset="0"/>
              </a:rPr>
              <a:t>	</a:t>
            </a:r>
            <a:r>
              <a:rPr lang="en-US" sz="1200" b="1" dirty="0" smtClean="0">
                <a:solidFill>
                  <a:srgbClr val="051D40"/>
                </a:solidFill>
                <a:latin typeface="Times New Roman" panose="02020603050405020304" pitchFamily="18" charset="0"/>
                <a:ea typeface="Open Sans Extra Bold"/>
                <a:cs typeface="Times New Roman" panose="02020603050405020304" pitchFamily="18" charset="0"/>
                <a:sym typeface="Open Sans Extra Bold"/>
              </a:rPr>
              <a:t>(VTU 26580)(</a:t>
            </a:r>
            <a:r>
              <a:rPr lang="en-IN" sz="1200" b="1" dirty="0" smtClean="0">
                <a:latin typeface="Times New Roman" panose="02020603050405020304" pitchFamily="18" charset="0"/>
                <a:cs typeface="Times New Roman" panose="02020603050405020304" pitchFamily="18" charset="0"/>
              </a:rPr>
              <a:t>23UECS0307</a:t>
            </a:r>
            <a:r>
              <a:rPr lang="en-US" sz="1200" b="1" dirty="0" smtClean="0">
                <a:solidFill>
                  <a:srgbClr val="051D40"/>
                </a:solidFill>
                <a:latin typeface="Times New Roman" panose="02020603050405020304" pitchFamily="18" charset="0"/>
                <a:ea typeface="Open Sans Extra Bold"/>
                <a:cs typeface="Times New Roman" panose="02020603050405020304" pitchFamily="18" charset="0"/>
                <a:sym typeface="Open Sans Extra Bold"/>
              </a:rPr>
              <a:t>)</a:t>
            </a:r>
          </a:p>
          <a:p>
            <a:pPr marL="228600" indent="-228600" algn="just" eaLnBrk="1" fontAlgn="auto" hangingPunct="1">
              <a:spcAft>
                <a:spcPts val="0"/>
              </a:spcAft>
              <a:buFont typeface="+mj-lt"/>
              <a:buAutoNum type="arabicPeriod"/>
              <a:defRPr/>
            </a:pPr>
            <a:r>
              <a:rPr lang="en-US" sz="1200" b="1" dirty="0" err="1" smtClean="0">
                <a:solidFill>
                  <a:srgbClr val="051D40"/>
                </a:solidFill>
                <a:latin typeface="Times New Roman" panose="02020603050405020304" pitchFamily="18" charset="0"/>
                <a:ea typeface="Open Sans Extra Bold"/>
                <a:cs typeface="Times New Roman" panose="02020603050405020304" pitchFamily="18" charset="0"/>
                <a:sym typeface="Open Sans Extra Bold"/>
              </a:rPr>
              <a:t>J.PrudhviRaj</a:t>
            </a:r>
            <a:r>
              <a:rPr lang="en-US" sz="1200" b="1" dirty="0" smtClean="0">
                <a:solidFill>
                  <a:srgbClr val="051D40"/>
                </a:solidFill>
                <a:latin typeface="Times New Roman" panose="02020603050405020304" pitchFamily="18" charset="0"/>
                <a:ea typeface="Open Sans Extra Bold"/>
                <a:cs typeface="Times New Roman" panose="02020603050405020304" pitchFamily="18" charset="0"/>
                <a:sym typeface="Open Sans Extra Bold"/>
              </a:rPr>
              <a:t>	(VTU 25575)(23UECS0231)</a:t>
            </a:r>
          </a:p>
          <a:p>
            <a:pPr marL="228600" indent="-228600" algn="just" eaLnBrk="1" fontAlgn="auto" hangingPunct="1">
              <a:spcAft>
                <a:spcPts val="0"/>
              </a:spcAft>
              <a:buFont typeface="+mj-lt"/>
              <a:buAutoNum type="arabicPeriod"/>
              <a:defRPr/>
            </a:pPr>
            <a:r>
              <a:rPr lang="en-IN" sz="1200" b="1" dirty="0" err="1" smtClean="0">
                <a:latin typeface="Times New Roman" panose="02020603050405020304" pitchFamily="18" charset="0"/>
                <a:ea typeface="Tahoma" panose="020B0604030504040204" pitchFamily="34" charset="0"/>
                <a:cs typeface="Times New Roman" panose="02020603050405020304" pitchFamily="18" charset="0"/>
              </a:rPr>
              <a:t>V.Abhilash</a:t>
            </a:r>
            <a:r>
              <a:rPr lang="en-IN" sz="1200" b="1" dirty="0" smtClean="0">
                <a:latin typeface="Times New Roman" panose="02020603050405020304" pitchFamily="18" charset="0"/>
                <a:ea typeface="Tahoma" panose="020B0604030504040204" pitchFamily="34" charset="0"/>
                <a:cs typeface="Times New Roman" panose="02020603050405020304" pitchFamily="18" charset="0"/>
              </a:rPr>
              <a:t>	</a:t>
            </a:r>
            <a:r>
              <a:rPr lang="en-US" sz="1200" b="1" dirty="0" smtClean="0">
                <a:solidFill>
                  <a:srgbClr val="051D40"/>
                </a:solidFill>
                <a:latin typeface="Times New Roman" panose="02020603050405020304" pitchFamily="18" charset="0"/>
                <a:ea typeface="Tahoma" panose="020B0604030504040204" pitchFamily="34" charset="0"/>
                <a:cs typeface="Times New Roman" panose="02020603050405020304" pitchFamily="18" charset="0"/>
                <a:sym typeface="Open Sans Extra Bold"/>
              </a:rPr>
              <a:t>(</a:t>
            </a:r>
            <a:r>
              <a:rPr lang="en-US" sz="1200" b="1" dirty="0" smtClean="0">
                <a:solidFill>
                  <a:srgbClr val="051D40"/>
                </a:solidFill>
                <a:latin typeface="Times New Roman" panose="02020603050405020304" pitchFamily="18" charset="0"/>
                <a:ea typeface="Tahoma" panose="020B0604030504040204" pitchFamily="34" charset="0"/>
                <a:cs typeface="Times New Roman" panose="02020603050405020304" pitchFamily="18" charset="0"/>
                <a:sym typeface="Open Sans Extra Bold"/>
              </a:rPr>
              <a:t>VTU25558</a:t>
            </a:r>
            <a:r>
              <a:rPr lang="en-US" sz="1200" b="1" dirty="0" smtClean="0">
                <a:solidFill>
                  <a:srgbClr val="051D40"/>
                </a:solidFill>
                <a:latin typeface="Times New Roman" panose="02020603050405020304" pitchFamily="18" charset="0"/>
                <a:ea typeface="Tahoma" panose="020B0604030504040204" pitchFamily="34" charset="0"/>
                <a:cs typeface="Times New Roman" panose="02020603050405020304" pitchFamily="18" charset="0"/>
                <a:sym typeface="Open Sans Extra Bold"/>
              </a:rPr>
              <a:t>)(</a:t>
            </a:r>
            <a:r>
              <a:rPr lang="en-IN" sz="1200" b="1" dirty="0" smtClean="0">
                <a:latin typeface="Times New Roman" panose="02020603050405020304" pitchFamily="18" charset="0"/>
                <a:ea typeface="Tahoma" panose="020B0604030504040204" pitchFamily="34" charset="0"/>
                <a:cs typeface="Times New Roman" panose="02020603050405020304" pitchFamily="18" charset="0"/>
              </a:rPr>
              <a:t>23UECS1183</a:t>
            </a:r>
            <a:r>
              <a:rPr lang="en-US" sz="1200" b="1" dirty="0" smtClean="0">
                <a:solidFill>
                  <a:srgbClr val="051D40"/>
                </a:solidFill>
                <a:latin typeface="Times New Roman" panose="02020603050405020304" pitchFamily="18" charset="0"/>
                <a:ea typeface="Tahoma" panose="020B0604030504040204" pitchFamily="34" charset="0"/>
                <a:cs typeface="Times New Roman" panose="02020603050405020304" pitchFamily="18" charset="0"/>
                <a:sym typeface="Open Sans Extra Bold"/>
              </a:rPr>
              <a:t>)</a:t>
            </a:r>
          </a:p>
          <a:p>
            <a:pPr algn="ctr" eaLnBrk="1" fontAlgn="auto" hangingPunct="1">
              <a:spcAft>
                <a:spcPts val="0"/>
              </a:spcAft>
              <a:defRPr/>
            </a:pPr>
            <a:endParaRPr lang="en-US" sz="1200" b="1" dirty="0">
              <a:solidFill>
                <a:srgbClr val="051D40"/>
              </a:solidFill>
              <a:latin typeface="Open Sans Extra Bold"/>
              <a:ea typeface="Open Sans Extra Bold"/>
              <a:cs typeface="Open Sans Extra Bold"/>
              <a:sym typeface="Open Sans Extra Bold"/>
            </a:endParaRPr>
          </a:p>
        </p:txBody>
      </p:sp>
      <p:sp>
        <p:nvSpPr>
          <p:cNvPr id="8" name="Freeform 11"/>
          <p:cNvSpPr/>
          <p:nvPr/>
        </p:nvSpPr>
        <p:spPr>
          <a:xfrm>
            <a:off x="48491" y="48491"/>
            <a:ext cx="2867891" cy="1008784"/>
          </a:xfrm>
          <a:custGeom>
            <a:avLst/>
            <a:gdLst/>
            <a:ahLst/>
            <a:cxnLst/>
            <a:rect l="l" t="t" r="r" b="b"/>
            <a:pathLst>
              <a:path w="3953781" h="1147922">
                <a:moveTo>
                  <a:pt x="0" y="0"/>
                </a:moveTo>
                <a:lnTo>
                  <a:pt x="3953780" y="0"/>
                </a:lnTo>
                <a:lnTo>
                  <a:pt x="3953780" y="1147922"/>
                </a:lnTo>
                <a:lnTo>
                  <a:pt x="0" y="1147922"/>
                </a:lnTo>
                <a:lnTo>
                  <a:pt x="0" y="0"/>
                </a:lnTo>
                <a:close/>
              </a:path>
            </a:pathLst>
          </a:custGeom>
          <a:blipFill>
            <a:blip r:embed="rId2"/>
            <a:stretch>
              <a:fillRect l="-1087" r="-1087"/>
            </a:stretch>
          </a:blipFill>
        </p:spPr>
        <p:txBody>
          <a:bodyPr/>
          <a:lstStyle/>
          <a:p>
            <a:pPr eaLnBrk="1" fontAlgn="auto" hangingPunct="1">
              <a:spcBef>
                <a:spcPts val="0"/>
              </a:spcBef>
              <a:spcAft>
                <a:spcPts val="0"/>
              </a:spcAft>
              <a:defRPr/>
            </a:pPr>
            <a:endParaRPr lang="en-IN" dirty="0">
              <a:latin typeface="+mn-l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858125" y="0"/>
            <a:ext cx="1285875" cy="1057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Rectangle 3"/>
          <p:cNvSpPr/>
          <p:nvPr/>
        </p:nvSpPr>
        <p:spPr>
          <a:xfrm>
            <a:off x="4933516" y="3112204"/>
            <a:ext cx="3567546" cy="1241174"/>
          </a:xfrm>
          <a:prstGeom prst="rect">
            <a:avLst/>
          </a:prstGeom>
        </p:spPr>
        <p:txBody>
          <a:bodyPr wrap="square">
            <a:spAutoFit/>
          </a:bodyPr>
          <a:lstStyle/>
          <a:p>
            <a:pPr algn="ctr" eaLnBrk="1" fontAlgn="auto" hangingPunct="1">
              <a:lnSpc>
                <a:spcPct val="200000"/>
              </a:lnSpc>
              <a:spcBef>
                <a:spcPts val="0"/>
              </a:spcBef>
              <a:spcAft>
                <a:spcPts val="0"/>
              </a:spcAft>
              <a:defRPr/>
            </a:pPr>
            <a:r>
              <a:rPr lang="en-US" sz="1200" b="1" spc="-55" dirty="0" smtClean="0">
                <a:solidFill>
                  <a:srgbClr val="051D40"/>
                </a:solidFill>
                <a:latin typeface="Times New Roman" panose="02020603050405020304" pitchFamily="18" charset="0"/>
                <a:ea typeface="Poppins Bold"/>
                <a:cs typeface="Times New Roman" panose="02020603050405020304" pitchFamily="18" charset="0"/>
                <a:sym typeface="Poppins Bold"/>
              </a:rPr>
              <a:t>SUPERVISED BY</a:t>
            </a:r>
          </a:p>
          <a:p>
            <a:pPr algn="ctr" eaLnBrk="1" fontAlgn="auto" hangingPunct="1">
              <a:lnSpc>
                <a:spcPct val="200000"/>
              </a:lnSpc>
              <a:spcBef>
                <a:spcPts val="0"/>
              </a:spcBef>
              <a:spcAft>
                <a:spcPts val="0"/>
              </a:spcAft>
              <a:defRPr/>
            </a:pPr>
            <a:r>
              <a:rPr lang="en-IN" sz="1200" b="1" dirty="0" err="1" smtClean="0">
                <a:latin typeface="Times New Roman" panose="02020603050405020304" pitchFamily="18" charset="0"/>
                <a:cs typeface="Times New Roman" panose="02020603050405020304" pitchFamily="18" charset="0"/>
              </a:rPr>
              <a:t>Dr.N.Krishnaveni</a:t>
            </a:r>
            <a:r>
              <a:rPr lang="en-US" sz="1200" b="1" spc="-55" dirty="0" smtClean="0">
                <a:solidFill>
                  <a:srgbClr val="051D40"/>
                </a:solidFill>
                <a:latin typeface="Times New Roman" panose="02020603050405020304" pitchFamily="18" charset="0"/>
                <a:ea typeface="Poppins Bold"/>
                <a:cs typeface="Times New Roman" panose="02020603050405020304" pitchFamily="18" charset="0"/>
                <a:sym typeface="Poppins Bold"/>
              </a:rPr>
              <a:t>   </a:t>
            </a:r>
          </a:p>
          <a:p>
            <a:pPr algn="ctr" eaLnBrk="1" fontAlgn="auto" hangingPunct="1">
              <a:lnSpc>
                <a:spcPts val="3855"/>
              </a:lnSpc>
              <a:spcBef>
                <a:spcPts val="0"/>
              </a:spcBef>
              <a:spcAft>
                <a:spcPts val="0"/>
              </a:spcAft>
              <a:defRPr/>
            </a:pPr>
            <a:endParaRPr lang="en-US" sz="1200" b="1" spc="-55" dirty="0">
              <a:solidFill>
                <a:srgbClr val="051D40"/>
              </a:solidFill>
              <a:latin typeface="Poppins Bold"/>
              <a:ea typeface="Poppins Bold"/>
              <a:cs typeface="Poppins Bold"/>
              <a:sym typeface="Poppins Bo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152400" y="273627"/>
            <a:ext cx="8991600" cy="938297"/>
          </a:xfrm>
        </p:spPr>
        <p:txBody>
          <a:bodyPr>
            <a:noAutofit/>
          </a:bodyPr>
          <a:lstStyle/>
          <a:p>
            <a:r>
              <a:rPr lang="en-IN" sz="2400" b="1" dirty="0" smtClean="0">
                <a:latin typeface="Times New Roman" panose="02020603050405020304" pitchFamily="18" charset="0"/>
                <a:cs typeface="Times New Roman" panose="02020603050405020304" pitchFamily="18" charset="0"/>
              </a:rPr>
              <a:t>Design &amp; development of a Smart Rock Weathering &amp; Patina Formation Observation System</a:t>
            </a:r>
            <a:r>
              <a:rPr lang="en-US" sz="2400" b="1" dirty="0" smtClean="0">
                <a:solidFill>
                  <a:schemeClr val="accent1">
                    <a:satMod val="150000"/>
                  </a:schemeClr>
                </a:solidFill>
                <a:latin typeface="Times New Roman" panose="02020603050405020304" pitchFamily="18" charset="0"/>
                <a:cs typeface="Times New Roman" panose="02020603050405020304" pitchFamily="18" charset="0"/>
              </a:rPr>
              <a:t/>
            </a:r>
            <a:br>
              <a:rPr lang="en-US" sz="2400" b="1" dirty="0" smtClean="0">
                <a:solidFill>
                  <a:schemeClr val="accent1">
                    <a:satMod val="150000"/>
                  </a:schemeClr>
                </a:solidFill>
                <a:latin typeface="Times New Roman" panose="02020603050405020304" pitchFamily="18" charset="0"/>
                <a:cs typeface="Times New Roman" panose="02020603050405020304" pitchFamily="18" charset="0"/>
              </a:rPr>
            </a:br>
            <a:endParaRPr lang="en-US" sz="2400" dirty="0">
              <a:solidFill>
                <a:schemeClr val="accent1">
                  <a:satMod val="150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pPr>
              <a:defRPr/>
            </a:pPr>
            <a:fld id="{5E4C9F69-8D19-4DDA-90DF-98A742B56BDA}" type="datetime3">
              <a:rPr lang="en-US" smtClean="0"/>
              <a:pPr>
                <a:defRPr/>
              </a:pPr>
              <a:t>10 April 2026</a:t>
            </a:fld>
            <a:endParaRPr lang="en-US" dirty="0"/>
          </a:p>
        </p:txBody>
      </p:sp>
      <p:sp>
        <p:nvSpPr>
          <p:cNvPr id="5" name="Footer Placeholder 4"/>
          <p:cNvSpPr>
            <a:spLocks noGrp="1"/>
          </p:cNvSpPr>
          <p:nvPr>
            <p:ph type="ftr" sz="quarter" idx="11"/>
          </p:nvPr>
        </p:nvSpPr>
        <p:spPr>
          <a:xfrm>
            <a:off x="2640013" y="4857750"/>
            <a:ext cx="5935951"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9219" name="Slide Number Placeholder 6"/>
          <p:cNvSpPr>
            <a:spLocks noGrp="1" noChangeArrowheads="1"/>
          </p:cNvSpPr>
          <p:nvPr>
            <p:ph type="sldNum" sz="quarter" idx="12"/>
          </p:nvPr>
        </p:nvSpPr>
        <p:spPr bwMode="auto">
          <a:noFill/>
          <a:ln>
            <a:miter lim="800000"/>
            <a:headEnd/>
            <a:tailEnd/>
          </a:ln>
        </p:spPr>
        <p:txBody>
          <a:bodyPr/>
          <a:lstStyle/>
          <a:p>
            <a:pPr>
              <a:lnSpc>
                <a:spcPct val="90000"/>
              </a:lnSpc>
            </a:pPr>
            <a:fld id="{089DB55B-AF57-424A-AA3C-DDAA088D3F76}" type="slidenum">
              <a:rPr lang="en-US" altLang="en-US" sz="1100"/>
              <a:pPr>
                <a:lnSpc>
                  <a:spcPct val="90000"/>
                </a:lnSpc>
              </a:pPr>
              <a:t>2</a:t>
            </a:fld>
            <a:endParaRPr lang="en-US" altLang="en-US" sz="1100"/>
          </a:p>
        </p:txBody>
      </p:sp>
      <p:sp>
        <p:nvSpPr>
          <p:cNvPr id="2" name="Rectangle 1"/>
          <p:cNvSpPr/>
          <p:nvPr/>
        </p:nvSpPr>
        <p:spPr>
          <a:xfrm>
            <a:off x="476278" y="1118094"/>
            <a:ext cx="3862981" cy="3970318"/>
          </a:xfrm>
          <a:prstGeom prst="rect">
            <a:avLst/>
          </a:prstGeom>
        </p:spPr>
        <p:txBody>
          <a:bodyPr wrap="none">
            <a:spAutoFit/>
          </a:bodyPr>
          <a:lstStyle/>
          <a:p>
            <a:r>
              <a:rPr lang="en-US" b="1" dirty="0" smtClean="0">
                <a:solidFill>
                  <a:srgbClr val="000000"/>
                </a:solidFill>
                <a:latin typeface="Open Sans Extra Bold"/>
                <a:ea typeface="Open Sans Extra Bold"/>
                <a:cs typeface="Open Sans Extra Bold"/>
                <a:sym typeface="Open Sans Extra Bold"/>
              </a:rPr>
              <a:t>AGENDA</a:t>
            </a:r>
          </a:p>
          <a:p>
            <a:endParaRPr lang="en-US" b="1" dirty="0" smtClean="0">
              <a:solidFill>
                <a:srgbClr val="000000"/>
              </a:solidFill>
              <a:latin typeface="Open Sans Extra Bold"/>
              <a:ea typeface="Open Sans Extra Bold"/>
              <a:cs typeface="Open Sans Extra Bold"/>
              <a:sym typeface="Open Sans Extra Bold"/>
            </a:endParaRP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Introduction</a:t>
            </a:r>
            <a:endParaRPr lang="en-US" b="1" dirty="0">
              <a:solidFill>
                <a:srgbClr val="000000"/>
              </a:solidFill>
              <a:latin typeface="Open Sans Extra Bold"/>
              <a:ea typeface="Open Sans Extra Bold"/>
              <a:cs typeface="Open Sans Extra Bold"/>
              <a:sym typeface="Open Sans Extra Bold"/>
            </a:endParaRP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Literature Survey </a:t>
            </a: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Problem Statement</a:t>
            </a:r>
            <a:r>
              <a:rPr lang="en-US" b="1" dirty="0">
                <a:solidFill>
                  <a:srgbClr val="000000"/>
                </a:solidFill>
                <a:latin typeface="Open Sans Extra Bold"/>
                <a:ea typeface="Open Sans Extra Bold"/>
                <a:cs typeface="Open Sans Extra Bold"/>
                <a:sym typeface="Open Sans Extra Bold"/>
              </a:rPr>
              <a:t>	</a:t>
            </a: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Proposed Methodology</a:t>
            </a: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Proposed System Architecture</a:t>
            </a:r>
          </a:p>
          <a:p>
            <a:pPr marL="285750" indent="-285750">
              <a:buFont typeface="Arial" pitchFamily="34" charset="0"/>
              <a:buChar char="•"/>
            </a:pPr>
            <a:r>
              <a:rPr lang="en-IN" b="1" dirty="0">
                <a:latin typeface="Arial" panose="020B0604020202020204" pitchFamily="34" charset="0"/>
                <a:cs typeface="Arial" panose="020B0604020202020204" pitchFamily="34" charset="0"/>
              </a:rPr>
              <a:t>Implementation </a:t>
            </a:r>
            <a:r>
              <a:rPr lang="en-IN" b="1" dirty="0" smtClean="0">
                <a:latin typeface="Arial" panose="020B0604020202020204" pitchFamily="34" charset="0"/>
                <a:cs typeface="Arial" panose="020B0604020202020204" pitchFamily="34" charset="0"/>
              </a:rPr>
              <a:t>Details</a:t>
            </a:r>
          </a:p>
          <a:p>
            <a:pPr marL="285750" indent="-285750">
              <a:buFont typeface="Arial" pitchFamily="34" charset="0"/>
              <a:buChar char="•"/>
            </a:pPr>
            <a:r>
              <a:rPr lang="en-US" altLang="en-US" b="1" dirty="0">
                <a:solidFill>
                  <a:srgbClr val="051D40"/>
                </a:solidFill>
                <a:latin typeface="Arial" pitchFamily="34" charset="0"/>
                <a:ea typeface="Open Sans Extra Bold" charset="0"/>
                <a:cs typeface="Arial" pitchFamily="34" charset="0"/>
                <a:sym typeface="Open Sans Extra Bold" charset="0"/>
              </a:rPr>
              <a:t>Testing &amp; Validation</a:t>
            </a:r>
          </a:p>
          <a:p>
            <a:pPr marL="285750" indent="-285750">
              <a:buFont typeface="Arial" pitchFamily="34" charset="0"/>
              <a:buChar char="•"/>
            </a:pPr>
            <a:r>
              <a:rPr lang="en-IN" b="1" dirty="0" smtClean="0">
                <a:latin typeface="Arial" panose="020B0604020202020204" pitchFamily="34" charset="0"/>
                <a:cs typeface="Arial" panose="020B0604020202020204" pitchFamily="34" charset="0"/>
              </a:rPr>
              <a:t>Preliminary </a:t>
            </a:r>
            <a:r>
              <a:rPr lang="en-IN" b="1" dirty="0">
                <a:latin typeface="Arial" panose="020B0604020202020204" pitchFamily="34" charset="0"/>
                <a:cs typeface="Arial" panose="020B0604020202020204" pitchFamily="34" charset="0"/>
              </a:rPr>
              <a:t>Results &amp; Analysis</a:t>
            </a: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Conclusion </a:t>
            </a:r>
            <a:r>
              <a:rPr lang="en-US" b="1" dirty="0">
                <a:solidFill>
                  <a:srgbClr val="000000"/>
                </a:solidFill>
                <a:latin typeface="Open Sans Extra Bold"/>
                <a:ea typeface="Open Sans Extra Bold"/>
                <a:cs typeface="Open Sans Extra Bold"/>
                <a:sym typeface="Open Sans Extra Bold"/>
              </a:rPr>
              <a:t>and </a:t>
            </a:r>
            <a:r>
              <a:rPr lang="en-US" b="1" dirty="0" smtClean="0">
                <a:solidFill>
                  <a:srgbClr val="000000"/>
                </a:solidFill>
                <a:latin typeface="Open Sans Extra Bold"/>
                <a:ea typeface="Open Sans Extra Bold"/>
                <a:cs typeface="Open Sans Extra Bold"/>
                <a:sym typeface="Open Sans Extra Bold"/>
              </a:rPr>
              <a:t>Future Work</a:t>
            </a:r>
          </a:p>
          <a:p>
            <a:pPr marL="285750" indent="-285750">
              <a:buFont typeface="Arial" pitchFamily="34" charset="0"/>
              <a:buChar char="•"/>
            </a:pPr>
            <a:r>
              <a:rPr lang="en-US" b="1" dirty="0" smtClean="0">
                <a:solidFill>
                  <a:srgbClr val="000000"/>
                </a:solidFill>
                <a:latin typeface="Open Sans Extra Bold"/>
                <a:ea typeface="Open Sans Extra Bold"/>
                <a:cs typeface="Open Sans Extra Bold"/>
                <a:sym typeface="Open Sans Extra Bold"/>
              </a:rPr>
              <a:t>References</a:t>
            </a:r>
            <a:endParaRPr lang="en-US" b="1" dirty="0">
              <a:solidFill>
                <a:srgbClr val="000000"/>
              </a:solidFill>
              <a:latin typeface="Open Sans Extra Bold"/>
              <a:ea typeface="Open Sans Extra Bold"/>
              <a:cs typeface="Open Sans Extra Bold"/>
              <a:sym typeface="Open Sans Extra Bold"/>
            </a:endParaRPr>
          </a:p>
          <a:p>
            <a:endParaRPr lang="en-US" b="1" dirty="0">
              <a:solidFill>
                <a:srgbClr val="000000"/>
              </a:solidFill>
              <a:latin typeface="Open Sans Extra Bold"/>
              <a:ea typeface="Open Sans Extra Bold"/>
              <a:cs typeface="Open Sans Extra Bold"/>
              <a:sym typeface="Open Sans Extra Bold"/>
            </a:endParaRPr>
          </a:p>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Introduction</a:t>
            </a:r>
          </a:p>
        </p:txBody>
      </p:sp>
      <p:sp>
        <p:nvSpPr>
          <p:cNvPr id="13315" name="Rectangle 3"/>
          <p:cNvSpPr>
            <a:spLocks noGrp="1"/>
          </p:cNvSpPr>
          <p:nvPr>
            <p:ph idx="1"/>
          </p:nvPr>
        </p:nvSpPr>
        <p:spPr/>
        <p:txBody>
          <a:bodyPr>
            <a:normAutofit/>
          </a:bodyPr>
          <a:lstStyle/>
          <a:p>
            <a:pPr>
              <a:buNone/>
            </a:pPr>
            <a:r>
              <a:rPr lang="en-US" sz="1400" b="1" dirty="0" smtClean="0">
                <a:solidFill>
                  <a:srgbClr val="000000"/>
                </a:solidFill>
                <a:latin typeface="Open Sans Extra Bold"/>
                <a:ea typeface="Open Sans Extra Bold"/>
                <a:cs typeface="Open Sans Extra Bold"/>
                <a:sym typeface="Open Sans Extra Bold"/>
              </a:rPr>
              <a:t>Problem </a:t>
            </a:r>
            <a:r>
              <a:rPr lang="en-US" sz="1400" b="1" dirty="0" smtClean="0">
                <a:solidFill>
                  <a:srgbClr val="000000"/>
                </a:solidFill>
                <a:latin typeface="Times New Roman" pitchFamily="18" charset="0"/>
                <a:ea typeface="Open Sans Extra Bold"/>
                <a:cs typeface="Times New Roman" pitchFamily="18" charset="0"/>
                <a:sym typeface="Open Sans Extra Bold"/>
              </a:rPr>
              <a:t>Statement</a:t>
            </a:r>
            <a:r>
              <a:rPr lang="en-US" sz="1050" b="1" dirty="0" smtClean="0">
                <a:solidFill>
                  <a:srgbClr val="000000"/>
                </a:solidFill>
                <a:latin typeface="Open Sans Extra Bold"/>
                <a:ea typeface="Open Sans Extra Bold"/>
                <a:cs typeface="Open Sans Extra Bold"/>
                <a:sym typeface="Open Sans Extra Bold"/>
              </a:rPr>
              <a:t>:</a:t>
            </a:r>
          </a:p>
          <a:p>
            <a:pPr marL="119062" indent="0">
              <a:buNone/>
            </a:pPr>
            <a:r>
              <a:rPr lang="en-US" sz="1050" dirty="0" smtClean="0"/>
              <a:t> </a:t>
            </a:r>
            <a:r>
              <a:rPr lang="en-GB" sz="1050" dirty="0" smtClean="0">
                <a:latin typeface="Times New Roman" pitchFamily="18" charset="0"/>
                <a:cs typeface="Times New Roman" pitchFamily="18" charset="0"/>
              </a:rPr>
              <a:t>Rock weathering and patina formation occur slowly over time due to environmental factors such as temperature, humidity, rainfall, sunlight, and air pollution. Traditional observation methods rely on manual inspection, which is time-consuming, inaccurate, and lacks continuous monitoring. There is a need for a smart automated system that can continuously observe environmental conditions and track changes in rock surfaces to better understand weathering and patina formation</a:t>
            </a:r>
            <a:r>
              <a:rPr lang="en-GB" sz="1050" dirty="0" smtClean="0">
                <a:latin typeface="Times New Roman" pitchFamily="18" charset="0"/>
                <a:cs typeface="Times New Roman" pitchFamily="18" charset="0"/>
              </a:rPr>
              <a:t>.</a:t>
            </a:r>
          </a:p>
          <a:p>
            <a:pPr marL="119062" indent="0">
              <a:buNone/>
            </a:pPr>
            <a:endParaRPr lang="en-US" sz="1050" dirty="0" smtClean="0"/>
          </a:p>
        </p:txBody>
      </p:sp>
      <p:sp>
        <p:nvSpPr>
          <p:cNvPr id="2" name="Date Placeholder 1"/>
          <p:cNvSpPr>
            <a:spLocks noGrp="1"/>
          </p:cNvSpPr>
          <p:nvPr>
            <p:ph type="dt" sz="half" idx="10"/>
          </p:nvPr>
        </p:nvSpPr>
        <p:spPr/>
        <p:txBody>
          <a:bodyPr/>
          <a:lstStyle/>
          <a:p>
            <a:pPr>
              <a:defRPr/>
            </a:pPr>
            <a:fld id="{62045F47-43EB-4CFA-85B8-57EC616EA918}" type="datetime3">
              <a:rPr lang="en-US" smtClean="0"/>
              <a:pPr>
                <a:defRPr/>
              </a:pPr>
              <a:t>10 April 2026</a:t>
            </a:fld>
            <a:endParaRPr lang="en-US" dirty="0"/>
          </a:p>
        </p:txBody>
      </p:sp>
      <p:sp>
        <p:nvSpPr>
          <p:cNvPr id="4" name="Footer Placeholder 3"/>
          <p:cNvSpPr>
            <a:spLocks noGrp="1"/>
          </p:cNvSpPr>
          <p:nvPr>
            <p:ph type="ftr" sz="quarter" idx="11"/>
          </p:nvPr>
        </p:nvSpPr>
        <p:spPr>
          <a:xfrm>
            <a:off x="3124199" y="4767264"/>
            <a:ext cx="5534892" cy="273844"/>
          </a:xfrm>
        </p:spPr>
        <p:txBody>
          <a:bodyPr/>
          <a:lstStyle/>
          <a:p>
            <a:pPr>
              <a:defRPr/>
            </a:pPr>
            <a:r>
              <a:rPr lang="en-US" dirty="0" smtClean="0"/>
              <a:t>BATCH </a:t>
            </a:r>
            <a:r>
              <a:rPr lang="en-US" dirty="0" smtClean="0"/>
              <a:t>NO:216  DEPARTMENT </a:t>
            </a:r>
            <a:r>
              <a:rPr lang="en-US" dirty="0" smtClean="0"/>
              <a:t>OF COMPUTER SCIENCE &amp; ENGINEERING </a:t>
            </a:r>
            <a:endParaRPr lang="en-US" dirty="0"/>
          </a:p>
        </p:txBody>
      </p:sp>
      <p:sp>
        <p:nvSpPr>
          <p:cNvPr id="13317" name="Slide Number Placeholder 3"/>
          <p:cNvSpPr>
            <a:spLocks noGrp="1" noChangeArrowheads="1"/>
          </p:cNvSpPr>
          <p:nvPr>
            <p:ph type="sldNum" sz="quarter" idx="12"/>
          </p:nvPr>
        </p:nvSpPr>
        <p:spPr bwMode="auto">
          <a:xfrm>
            <a:off x="7051963" y="4781118"/>
            <a:ext cx="1939636" cy="273844"/>
          </a:xfrm>
          <a:noFill/>
          <a:ln>
            <a:miter lim="800000"/>
            <a:headEnd/>
            <a:tailEnd/>
          </a:ln>
        </p:spPr>
        <p:txBody>
          <a:bodyPr>
            <a:normAutofit lnSpcReduction="10000"/>
          </a:bodyPr>
          <a:lstStyle/>
          <a:p>
            <a:r>
              <a:rPr lang="en-US" altLang="en-US" dirty="0" smtClean="0"/>
              <a:t>      </a:t>
            </a:r>
            <a:fld id="{16E5D142-761C-4AC0-BD20-EECEB6996668}" type="slidenum">
              <a:rPr lang="en-US" altLang="en-US" smtClean="0"/>
              <a:pPr/>
              <a:t>3</a:t>
            </a:fld>
            <a:endParaRPr lang="en-US" altLang="en-US" dirty="0"/>
          </a:p>
        </p:txBody>
      </p:sp>
      <p:sp>
        <p:nvSpPr>
          <p:cNvPr id="9" name="TextBox 8"/>
          <p:cNvSpPr txBox="1"/>
          <p:nvPr/>
        </p:nvSpPr>
        <p:spPr>
          <a:xfrm>
            <a:off x="477979" y="2279073"/>
            <a:ext cx="7841673" cy="854080"/>
          </a:xfrm>
          <a:prstGeom prst="rect">
            <a:avLst/>
          </a:prstGeom>
          <a:noFill/>
        </p:spPr>
        <p:txBody>
          <a:bodyPr wrap="square" rtlCol="0">
            <a:spAutoFit/>
          </a:bodyPr>
          <a:lstStyle/>
          <a:p>
            <a:r>
              <a:rPr lang="en-US" sz="1400" b="1" dirty="0" smtClean="0">
                <a:solidFill>
                  <a:srgbClr val="000000"/>
                </a:solidFill>
                <a:latin typeface="Times New Roman" pitchFamily="18" charset="0"/>
                <a:ea typeface="Open Sans Extra Bold"/>
                <a:cs typeface="Times New Roman" pitchFamily="18" charset="0"/>
                <a:sym typeface="Open Sans Extra Bold"/>
              </a:rPr>
              <a:t>Project </a:t>
            </a:r>
            <a:r>
              <a:rPr lang="en-US" sz="1400" b="1" dirty="0" smtClean="0">
                <a:solidFill>
                  <a:srgbClr val="000000"/>
                </a:solidFill>
                <a:latin typeface="Times New Roman" pitchFamily="18" charset="0"/>
                <a:ea typeface="Open Sans Extra Bold"/>
                <a:cs typeface="Times New Roman" pitchFamily="18" charset="0"/>
                <a:sym typeface="Open Sans Extra Bold"/>
              </a:rPr>
              <a:t>Goal</a:t>
            </a:r>
            <a:r>
              <a:rPr lang="en-US" b="1" dirty="0" smtClean="0">
                <a:solidFill>
                  <a:srgbClr val="000000"/>
                </a:solidFill>
                <a:latin typeface="Times New Roman" pitchFamily="18" charset="0"/>
                <a:ea typeface="Open Sans Extra Bold"/>
                <a:cs typeface="Times New Roman" pitchFamily="18" charset="0"/>
                <a:sym typeface="Open Sans Extra Bold"/>
              </a:rPr>
              <a:t>:</a:t>
            </a:r>
            <a:r>
              <a:rPr lang="en-GB" sz="1050" dirty="0" smtClean="0">
                <a:latin typeface="Times New Roman" pitchFamily="18" charset="0"/>
                <a:cs typeface="Times New Roman" pitchFamily="18" charset="0"/>
              </a:rPr>
              <a:t>To design and develop a smart observation system that monitors environmental parameters and captures rock surface changes over time using sensors and camera modules. The system will collect, store, and analyze data to study weathering and patina formation automatically and provide visual and graphical insights.</a:t>
            </a:r>
            <a:endParaRPr lang="en-US" sz="1050" b="1" dirty="0" smtClean="0">
              <a:solidFill>
                <a:srgbClr val="000000"/>
              </a:solidFill>
              <a:latin typeface="Times New Roman" pitchFamily="18" charset="0"/>
              <a:ea typeface="Open Sans Extra Bold"/>
              <a:cs typeface="Times New Roman" pitchFamily="18" charset="0"/>
              <a:sym typeface="Open Sans Extra Bold"/>
            </a:endParaRPr>
          </a:p>
          <a:p>
            <a:endParaRPr lang="en-US" sz="1050" dirty="0">
              <a:latin typeface="Times New Roman" pitchFamily="18" charset="0"/>
              <a:cs typeface="Times New Roman" pitchFamily="18" charset="0"/>
            </a:endParaRPr>
          </a:p>
        </p:txBody>
      </p:sp>
      <p:sp>
        <p:nvSpPr>
          <p:cNvPr id="11" name="TextBox 10"/>
          <p:cNvSpPr txBox="1"/>
          <p:nvPr/>
        </p:nvSpPr>
        <p:spPr>
          <a:xfrm>
            <a:off x="519545" y="3371849"/>
            <a:ext cx="8541327" cy="792525"/>
          </a:xfrm>
          <a:prstGeom prst="rect">
            <a:avLst/>
          </a:prstGeom>
          <a:noFill/>
        </p:spPr>
        <p:txBody>
          <a:bodyPr wrap="square" rtlCol="0">
            <a:spAutoFit/>
          </a:bodyPr>
          <a:lstStyle/>
          <a:p>
            <a:r>
              <a:rPr lang="en-US" sz="1400" b="1" dirty="0" smtClean="0">
                <a:solidFill>
                  <a:srgbClr val="000000"/>
                </a:solidFill>
                <a:latin typeface="Times New Roman" pitchFamily="18" charset="0"/>
                <a:ea typeface="Open Sans Extra Bold"/>
                <a:cs typeface="Times New Roman" pitchFamily="18" charset="0"/>
                <a:sym typeface="Open Sans Extra Bold"/>
              </a:rPr>
              <a:t>Brief Overview</a:t>
            </a:r>
            <a:r>
              <a:rPr lang="en-US" sz="1400" b="1" dirty="0" smtClean="0">
                <a:solidFill>
                  <a:srgbClr val="000000"/>
                </a:solidFill>
                <a:latin typeface="Times New Roman" pitchFamily="18" charset="0"/>
                <a:ea typeface="Open Sans Extra Bold"/>
                <a:cs typeface="Times New Roman" pitchFamily="18" charset="0"/>
                <a:sym typeface="Open Sans Extra Bold"/>
              </a:rPr>
              <a:t>:</a:t>
            </a:r>
            <a:r>
              <a:rPr lang="en-GB" sz="1400" dirty="0" smtClean="0">
                <a:latin typeface="Times New Roman" pitchFamily="18" charset="0"/>
                <a:cs typeface="Times New Roman" pitchFamily="18" charset="0"/>
              </a:rPr>
              <a:t> </a:t>
            </a:r>
            <a:r>
              <a:rPr lang="en-GB" sz="1050" dirty="0" smtClean="0">
                <a:latin typeface="Times New Roman" pitchFamily="18" charset="0"/>
                <a:cs typeface="Times New Roman" pitchFamily="18" charset="0"/>
              </a:rPr>
              <a:t>The Smart Rock Weathering &amp; Patina Formation Observation System uses environmental sensors and a camera module connected to a microcontroller (ESP32/</a:t>
            </a:r>
            <a:r>
              <a:rPr lang="en-GB" sz="1050" dirty="0" err="1" smtClean="0">
                <a:latin typeface="Times New Roman" pitchFamily="18" charset="0"/>
                <a:cs typeface="Times New Roman" pitchFamily="18" charset="0"/>
              </a:rPr>
              <a:t>Arduino</a:t>
            </a:r>
            <a:r>
              <a:rPr lang="en-GB" sz="1050" dirty="0" smtClean="0">
                <a:latin typeface="Times New Roman" pitchFamily="18" charset="0"/>
                <a:cs typeface="Times New Roman" pitchFamily="18" charset="0"/>
              </a:rPr>
              <a:t>/Raspberry Pi). The system continuously records temperature, humidity, light intensity, and other weather parameters while capturing periodic images of rock surfaces. The collected data is transmitted to a cloud platform where it is stored and analyzed. A dashboard displays environmental trends and visual changes in rock surfaces, helping researchers observe weathering and patina formation over time.</a:t>
            </a:r>
            <a:endParaRPr lang="en-US" sz="105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Literature Survey </a:t>
            </a:r>
          </a:p>
        </p:txBody>
      </p:sp>
      <p:sp>
        <p:nvSpPr>
          <p:cNvPr id="13315" name="Rectangle 3"/>
          <p:cNvSpPr>
            <a:spLocks noGrp="1"/>
          </p:cNvSpPr>
          <p:nvPr>
            <p:ph idx="1"/>
          </p:nvPr>
        </p:nvSpPr>
        <p:spPr>
          <a:xfrm>
            <a:off x="242455" y="1198419"/>
            <a:ext cx="8153400" cy="3151764"/>
          </a:xfrm>
        </p:spPr>
        <p:txBody>
          <a:bodyPr>
            <a:normAutofit fontScale="55000" lnSpcReduction="20000"/>
          </a:bodyPr>
          <a:lstStyle/>
          <a:p>
            <a:pPr>
              <a:buNone/>
            </a:pPr>
            <a:endParaRPr lang="en-US" sz="2400" dirty="0" smtClean="0"/>
          </a:p>
          <a:p>
            <a:pPr>
              <a:buNone/>
            </a:pPr>
            <a:r>
              <a:rPr lang="en-GB" sz="2200" dirty="0" smtClean="0">
                <a:latin typeface="Times New Roman" pitchFamily="18" charset="0"/>
                <a:cs typeface="Times New Roman" pitchFamily="18" charset="0"/>
              </a:rPr>
              <a:t>         • </a:t>
            </a:r>
            <a:r>
              <a:rPr lang="en-GB" sz="2200" dirty="0" smtClean="0">
                <a:latin typeface="Times New Roman" pitchFamily="18" charset="0"/>
                <a:cs typeface="Times New Roman" pitchFamily="18" charset="0"/>
              </a:rPr>
              <a:t>Existing systems use </a:t>
            </a:r>
            <a:r>
              <a:rPr lang="en-GB" sz="2200" dirty="0" err="1" smtClean="0">
                <a:latin typeface="Times New Roman" pitchFamily="18" charset="0"/>
                <a:cs typeface="Times New Roman" pitchFamily="18" charset="0"/>
              </a:rPr>
              <a:t>IoT</a:t>
            </a:r>
            <a:r>
              <a:rPr lang="en-GB" sz="2200" dirty="0" smtClean="0">
                <a:latin typeface="Times New Roman" pitchFamily="18" charset="0"/>
                <a:cs typeface="Times New Roman" pitchFamily="18" charset="0"/>
              </a:rPr>
              <a:t>-based environmental monitoring to measure temperature, humidity, rainfall, and light intensity.</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Wireless sensor networks are used for monitoring environmental and geological changes.</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Some studies use image processing techniques to analyze rock surface </a:t>
            </a:r>
            <a:r>
              <a:rPr lang="en-GB" sz="2200" dirty="0" err="1" smtClean="0">
                <a:latin typeface="Times New Roman" pitchFamily="18" charset="0"/>
                <a:cs typeface="Times New Roman" pitchFamily="18" charset="0"/>
              </a:rPr>
              <a:t>color</a:t>
            </a:r>
            <a:r>
              <a:rPr lang="en-GB" sz="2200" dirty="0" smtClean="0">
                <a:latin typeface="Times New Roman" pitchFamily="18" charset="0"/>
                <a:cs typeface="Times New Roman" pitchFamily="18" charset="0"/>
              </a:rPr>
              <a:t> and texture changes.</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Laboratory-based weathering experiments are used to study patina formation under controlled conditions.</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Cloud-based monitoring systems store and analyze environmental data in real </a:t>
            </a:r>
            <a:r>
              <a:rPr lang="en-GB" sz="2200" dirty="0" smtClean="0">
                <a:latin typeface="Times New Roman" pitchFamily="18" charset="0"/>
                <a:cs typeface="Times New Roman" pitchFamily="18" charset="0"/>
              </a:rPr>
              <a:t>time.</a:t>
            </a:r>
          </a:p>
          <a:p>
            <a:pPr>
              <a:buNone/>
            </a:pPr>
            <a:r>
              <a:rPr lang="en-GB" sz="2500" b="1" dirty="0" smtClean="0">
                <a:latin typeface="Times New Roman" pitchFamily="18" charset="0"/>
                <a:cs typeface="Times New Roman" pitchFamily="18" charset="0"/>
              </a:rPr>
              <a:t>Limitations </a:t>
            </a:r>
            <a:r>
              <a:rPr lang="en-GB" sz="2500" b="1" dirty="0" smtClean="0">
                <a:latin typeface="Times New Roman" pitchFamily="18" charset="0"/>
                <a:cs typeface="Times New Roman" pitchFamily="18" charset="0"/>
              </a:rPr>
              <a:t>of Existing Systems</a:t>
            </a:r>
          </a:p>
          <a:p>
            <a:pPr>
              <a:buNone/>
            </a:pPr>
            <a:r>
              <a:rPr lang="en-GB" sz="2200" dirty="0" smtClean="0">
                <a:latin typeface="Times New Roman" pitchFamily="18" charset="0"/>
                <a:cs typeface="Times New Roman" pitchFamily="18" charset="0"/>
              </a:rPr>
              <a:t>         • </a:t>
            </a:r>
            <a:r>
              <a:rPr lang="en-GB" sz="2200" dirty="0" smtClean="0">
                <a:latin typeface="Times New Roman" pitchFamily="18" charset="0"/>
                <a:cs typeface="Times New Roman" pitchFamily="18" charset="0"/>
              </a:rPr>
              <a:t>No continuous rock surface monitoring</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Manual observation required</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High-cost laboratory equipment</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No real-time patina tracking</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Lack of integrated smart system</a:t>
            </a:r>
          </a:p>
          <a:p>
            <a:pPr>
              <a:buNone/>
            </a:pPr>
            <a:r>
              <a:rPr lang="en-GB" sz="2200" b="1" dirty="0" smtClean="0">
                <a:latin typeface="Times New Roman" pitchFamily="18" charset="0"/>
                <a:cs typeface="Times New Roman" pitchFamily="18" charset="0"/>
              </a:rPr>
              <a:t>Proposed System Motivation</a:t>
            </a:r>
          </a:p>
          <a:p>
            <a:pPr>
              <a:buNone/>
            </a:pPr>
            <a:r>
              <a:rPr lang="en-GB" sz="2200" dirty="0" smtClean="0">
                <a:latin typeface="Times New Roman" pitchFamily="18" charset="0"/>
                <a:cs typeface="Times New Roman" pitchFamily="18" charset="0"/>
              </a:rPr>
              <a:t>         • </a:t>
            </a:r>
            <a:r>
              <a:rPr lang="en-GB" sz="2200" dirty="0" smtClean="0">
                <a:latin typeface="Times New Roman" pitchFamily="18" charset="0"/>
                <a:cs typeface="Times New Roman" pitchFamily="18" charset="0"/>
              </a:rPr>
              <a:t>Combines sensors and camera</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Real-time monitoring</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Automated data collection</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Cloud-based analysis</a:t>
            </a:r>
            <a:br>
              <a:rPr lang="en-GB" sz="2200" dirty="0" smtClean="0">
                <a:latin typeface="Times New Roman" pitchFamily="18" charset="0"/>
                <a:cs typeface="Times New Roman" pitchFamily="18" charset="0"/>
              </a:rPr>
            </a:br>
            <a:r>
              <a:rPr lang="en-GB" sz="2200" dirty="0" smtClean="0">
                <a:latin typeface="Times New Roman" pitchFamily="18" charset="0"/>
                <a:cs typeface="Times New Roman" pitchFamily="18" charset="0"/>
              </a:rPr>
              <a:t>• Low-cost smart observation system</a:t>
            </a:r>
          </a:p>
          <a:p>
            <a:endParaRPr lang="en-US" altLang="en-US" sz="2200" dirty="0" smtClean="0">
              <a:solidFill>
                <a:srgbClr val="0000FF"/>
              </a:solidFill>
              <a:latin typeface="Times New Roman" pitchFamily="18" charset="0"/>
              <a:cs typeface="Times New Roman" pitchFamily="18" charset="0"/>
            </a:endParaRPr>
          </a:p>
          <a:p>
            <a:endParaRPr lang="en-US" altLang="en-US" sz="2200" dirty="0" smtClean="0">
              <a:solidFill>
                <a:srgbClr val="0000FF"/>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7B357140-C9D4-4989-A73C-42BDB9E92689}"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6039860"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13317"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16E5D142-761C-4AC0-BD20-EECEB6996668}" type="slidenum">
              <a:rPr lang="en-US" altLang="en-US"/>
              <a:pPr/>
              <a:t>4</a:t>
            </a:fld>
            <a:endParaRPr lang="en-US" altLang="en-US"/>
          </a:p>
        </p:txBody>
      </p:sp>
      <p:sp>
        <p:nvSpPr>
          <p:cNvPr id="5" name="Rectangle 4"/>
          <p:cNvSpPr/>
          <p:nvPr/>
        </p:nvSpPr>
        <p:spPr>
          <a:xfrm>
            <a:off x="0" y="920574"/>
            <a:ext cx="4786313" cy="828881"/>
          </a:xfrm>
          <a:prstGeom prst="rect">
            <a:avLst/>
          </a:prstGeom>
        </p:spPr>
        <p:txBody>
          <a:bodyPr wrap="square">
            <a:spAutoFit/>
          </a:bodyPr>
          <a:lstStyle/>
          <a:p>
            <a:pPr marL="285750" indent="-285750" eaLnBrk="1" fontAlgn="auto" hangingPunct="1">
              <a:lnSpc>
                <a:spcPts val="3079"/>
              </a:lnSpc>
              <a:spcAft>
                <a:spcPts val="0"/>
              </a:spcAft>
              <a:defRPr/>
            </a:pPr>
            <a:r>
              <a:rPr lang="en-US" sz="1400" b="1" dirty="0" smtClean="0">
                <a:solidFill>
                  <a:srgbClr val="000000"/>
                </a:solidFill>
                <a:latin typeface="Times New Roman" pitchFamily="18" charset="0"/>
                <a:ea typeface="Open Sans Extra Bold"/>
                <a:cs typeface="Times New Roman" pitchFamily="18" charset="0"/>
                <a:sym typeface="Open Sans Extra Bold"/>
              </a:rPr>
              <a:t>     Existing </a:t>
            </a:r>
            <a:r>
              <a:rPr lang="en-US" sz="1400" b="1" dirty="0" smtClean="0">
                <a:solidFill>
                  <a:srgbClr val="000000"/>
                </a:solidFill>
                <a:latin typeface="Times New Roman" pitchFamily="18" charset="0"/>
                <a:ea typeface="Open Sans Extra Bold"/>
                <a:cs typeface="Times New Roman" pitchFamily="18" charset="0"/>
                <a:sym typeface="Open Sans Extra Bold"/>
              </a:rPr>
              <a:t>Systems and Related Works:</a:t>
            </a:r>
          </a:p>
          <a:p>
            <a:pPr eaLnBrk="1" fontAlgn="auto" hangingPunct="1">
              <a:lnSpc>
                <a:spcPts val="3079"/>
              </a:lnSpc>
              <a:spcAft>
                <a:spcPts val="0"/>
              </a:spcAft>
              <a:defRPr/>
            </a:pPr>
            <a:endParaRPr lang="en-US" sz="1400" b="1" dirty="0">
              <a:solidFill>
                <a:srgbClr val="000000"/>
              </a:solidFill>
              <a:latin typeface="Times New Roman" pitchFamily="18" charset="0"/>
              <a:ea typeface="Open Sans Extra Bold"/>
              <a:cs typeface="Times New Roman" pitchFamily="18" charset="0"/>
              <a:sym typeface="Open Sans Extra Bold"/>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lgn="ctr">
              <a:defRPr/>
            </a:pPr>
            <a:r>
              <a:rPr lang="en-US" altLang="en-US" dirty="0">
                <a:solidFill>
                  <a:srgbClr val="FFC000"/>
                </a:solidFill>
              </a:rPr>
              <a:t>Problem </a:t>
            </a:r>
            <a:r>
              <a:rPr lang="en-US" altLang="en-US" dirty="0" smtClean="0">
                <a:solidFill>
                  <a:srgbClr val="FFC000"/>
                </a:solidFill>
              </a:rPr>
              <a:t>Statement</a:t>
            </a:r>
            <a:br>
              <a:rPr lang="en-US" altLang="en-US" dirty="0" smtClean="0">
                <a:solidFill>
                  <a:srgbClr val="FFC000"/>
                </a:solidFill>
              </a:rPr>
            </a:br>
            <a:endParaRPr lang="en-US" altLang="en-US" dirty="0">
              <a:solidFill>
                <a:srgbClr val="FFC000"/>
              </a:solidFill>
            </a:endParaRPr>
          </a:p>
        </p:txBody>
      </p:sp>
      <p:sp>
        <p:nvSpPr>
          <p:cNvPr id="17411" name="Rectangle 3"/>
          <p:cNvSpPr>
            <a:spLocks noGrp="1"/>
          </p:cNvSpPr>
          <p:nvPr>
            <p:ph idx="1"/>
          </p:nvPr>
        </p:nvSpPr>
        <p:spPr>
          <a:xfrm>
            <a:off x="422563" y="3139931"/>
            <a:ext cx="8229600" cy="3297237"/>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ACACBBD2-2467-438D-92B5-6E0AEE3BCC72}"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6109132"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5</a:t>
            </a:fld>
            <a:endParaRPr lang="en-US" altLang="en-US"/>
          </a:p>
        </p:txBody>
      </p:sp>
      <p:sp>
        <p:nvSpPr>
          <p:cNvPr id="6" name="Rectangle 5"/>
          <p:cNvSpPr/>
          <p:nvPr/>
        </p:nvSpPr>
        <p:spPr>
          <a:xfrm>
            <a:off x="148921" y="1798265"/>
            <a:ext cx="3775393" cy="369332"/>
          </a:xfrm>
          <a:prstGeom prst="rect">
            <a:avLst/>
          </a:prstGeom>
        </p:spPr>
        <p:txBody>
          <a:bodyPr wrap="none">
            <a:spAutoFit/>
          </a:bodyPr>
          <a:lstStyle/>
          <a:p>
            <a:r>
              <a:rPr lang="en-US" b="1" dirty="0">
                <a:solidFill>
                  <a:srgbClr val="000000"/>
                </a:solidFill>
                <a:latin typeface="Open Sans Extra Bold"/>
                <a:ea typeface="Open Sans Extra Bold"/>
                <a:cs typeface="Open Sans Extra Bold"/>
                <a:sym typeface="Open Sans Extra Bold"/>
              </a:rPr>
              <a:t>Limitations of Existing Solutions</a:t>
            </a:r>
            <a:endParaRPr lang="en-IN" dirty="0"/>
          </a:p>
        </p:txBody>
      </p:sp>
      <p:sp>
        <p:nvSpPr>
          <p:cNvPr id="9" name="TextBox 8"/>
          <p:cNvSpPr txBox="1"/>
          <p:nvPr/>
        </p:nvSpPr>
        <p:spPr>
          <a:xfrm>
            <a:off x="277091" y="699654"/>
            <a:ext cx="8742217" cy="1169551"/>
          </a:xfrm>
          <a:prstGeom prst="rect">
            <a:avLst/>
          </a:prstGeom>
          <a:noFill/>
        </p:spPr>
        <p:txBody>
          <a:bodyPr wrap="square" rtlCol="0">
            <a:spAutoFit/>
          </a:bodyPr>
          <a:lstStyle/>
          <a:p>
            <a:r>
              <a:rPr lang="en-GB" sz="1400" dirty="0" smtClean="0">
                <a:latin typeface="Times New Roman" pitchFamily="18" charset="0"/>
                <a:cs typeface="Times New Roman" pitchFamily="18" charset="0"/>
              </a:rPr>
              <a:t>Rock weathering and patina formation occur gradually due to environmental factors such as temperature, humidity, rainfall, and sunlight. Existing observation methods rely on manual inspection, which is time-consuming and lacks continuous monitoring. These methods do not provide accurate tracking of surface changes over time. Therefore, a smart automated system is required to monitor environmental conditions and observe rock weathering in real time.</a:t>
            </a:r>
          </a:p>
          <a:p>
            <a:endParaRPr lang="en-US" sz="1400" dirty="0">
              <a:latin typeface="Times New Roman" pitchFamily="18" charset="0"/>
              <a:cs typeface="Times New Roman" pitchFamily="18" charset="0"/>
            </a:endParaRPr>
          </a:p>
        </p:txBody>
      </p:sp>
      <p:sp>
        <p:nvSpPr>
          <p:cNvPr id="13" name="TextBox 12"/>
          <p:cNvSpPr txBox="1"/>
          <p:nvPr/>
        </p:nvSpPr>
        <p:spPr>
          <a:xfrm>
            <a:off x="263235" y="2272145"/>
            <a:ext cx="8485910" cy="2031325"/>
          </a:xfrm>
          <a:prstGeom prst="rect">
            <a:avLst/>
          </a:prstGeom>
          <a:noFill/>
        </p:spPr>
        <p:txBody>
          <a:bodyPr wrap="square" rtlCol="0">
            <a:spAutoFit/>
          </a:bodyPr>
          <a:lstStyle/>
          <a:p>
            <a:r>
              <a:rPr lang="en-GB" sz="1400" dirty="0" smtClean="0"/>
              <a:t>• Existing methods rely on manual observation, which is time-consuming and requires continuous human involvement to monitor rock weathering and patina formation.</a:t>
            </a:r>
          </a:p>
          <a:p>
            <a:r>
              <a:rPr lang="en-GB" sz="1400" dirty="0" smtClean="0"/>
              <a:t>• Most systems focus only on measuring environmental parameters such as temperature and humidity without tracking actual changes in rock surface appearance.</a:t>
            </a:r>
          </a:p>
          <a:p>
            <a:r>
              <a:rPr lang="en-GB" sz="1400" dirty="0" smtClean="0"/>
              <a:t>• Laboratory-based weathering analysis requires expensive equipment and controlled conditions, making it unsuitable for real-time outdoor monitoring.</a:t>
            </a:r>
          </a:p>
          <a:p>
            <a:r>
              <a:rPr lang="en-GB" sz="1400" dirty="0" smtClean="0"/>
              <a:t>• There is no continuous monitoring system to observe gradual weathering and patina formation over a long period of time.</a:t>
            </a: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97873" y="0"/>
            <a:ext cx="8229600" cy="857250"/>
          </a:xfrm>
        </p:spPr>
        <p:txBody>
          <a:bodyPr>
            <a:normAutofit/>
          </a:bodyPr>
          <a:lstStyle/>
          <a:p>
            <a:pPr algn="ctr">
              <a:defRPr/>
            </a:pPr>
            <a:r>
              <a:rPr lang="en-US" altLang="en-US" sz="3700" dirty="0">
                <a:solidFill>
                  <a:srgbClr val="FFC000"/>
                </a:solidFill>
              </a:rPr>
              <a:t>Proposed Methodology</a:t>
            </a:r>
          </a:p>
        </p:txBody>
      </p:sp>
      <p:sp>
        <p:nvSpPr>
          <p:cNvPr id="17411" name="Rectangle 3"/>
          <p:cNvSpPr>
            <a:spLocks noGrp="1"/>
          </p:cNvSpPr>
          <p:nvPr>
            <p:ph idx="1"/>
          </p:nvPr>
        </p:nvSpPr>
        <p:spPr>
          <a:xfrm>
            <a:off x="192881" y="1331913"/>
            <a:ext cx="8493919" cy="3297237"/>
          </a:xfrm>
        </p:spPr>
        <p:txBody>
          <a:bodyPr/>
          <a:lstStyle/>
          <a:p>
            <a:pPr algn="just"/>
            <a:endParaRPr lang="en-US" sz="2400" dirty="0" smtClean="0">
              <a:latin typeface="Times New Roman" pitchFamily="18" charset="0"/>
              <a:cs typeface="Times New Roman" pitchFamily="18" charset="0"/>
            </a:endParaRPr>
          </a:p>
          <a:p>
            <a:pPr marL="119062" indent="0">
              <a:buNone/>
            </a:pPr>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93769019-FB0F-4A75-9CAB-E3ABAFEBEF9F}"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5949805"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6</a:t>
            </a:fld>
            <a:endParaRPr lang="en-US" altLang="en-US"/>
          </a:p>
        </p:txBody>
      </p:sp>
      <p:sp>
        <p:nvSpPr>
          <p:cNvPr id="8" name="TextBox 7"/>
          <p:cNvSpPr txBox="1"/>
          <p:nvPr/>
        </p:nvSpPr>
        <p:spPr>
          <a:xfrm>
            <a:off x="235528" y="803564"/>
            <a:ext cx="8908472" cy="3970318"/>
          </a:xfrm>
          <a:prstGeom prst="rect">
            <a:avLst/>
          </a:prstGeom>
          <a:noFill/>
        </p:spPr>
        <p:txBody>
          <a:bodyPr wrap="square" rtlCol="0">
            <a:spAutoFit/>
          </a:bodyPr>
          <a:lstStyle/>
          <a:p>
            <a:r>
              <a:rPr lang="en-GB" sz="1400" dirty="0" smtClean="0">
                <a:latin typeface="Times New Roman" pitchFamily="18" charset="0"/>
                <a:cs typeface="Times New Roman" pitchFamily="18" charset="0"/>
              </a:rPr>
              <a:t>• Environmental sensors such as temperature, humidity, and light sensors are used to continuously monitor surrounding weather conditions affecting rock weathering.</a:t>
            </a:r>
          </a:p>
          <a:p>
            <a:r>
              <a:rPr lang="en-GB" sz="1400" dirty="0" smtClean="0">
                <a:latin typeface="Times New Roman" pitchFamily="18" charset="0"/>
                <a:cs typeface="Times New Roman" pitchFamily="18" charset="0"/>
              </a:rPr>
              <a:t>• A camera module is installed to capture periodic images of the rock surface for observing patina formation and texture changes over time.</a:t>
            </a:r>
          </a:p>
          <a:p>
            <a:r>
              <a:rPr lang="en-GB" sz="1400" dirty="0" smtClean="0">
                <a:latin typeface="Times New Roman" pitchFamily="18" charset="0"/>
                <a:cs typeface="Times New Roman" pitchFamily="18" charset="0"/>
              </a:rPr>
              <a:t>• The sensor data and captured images are processed using a microcontroller such as </a:t>
            </a:r>
            <a:r>
              <a:rPr lang="en-GB" sz="1400" dirty="0" err="1" smtClean="0">
                <a:latin typeface="Times New Roman" pitchFamily="18" charset="0"/>
                <a:cs typeface="Times New Roman" pitchFamily="18" charset="0"/>
              </a:rPr>
              <a:t>Arduino</a:t>
            </a:r>
            <a:r>
              <a:rPr lang="en-GB" sz="1400" dirty="0" smtClean="0">
                <a:latin typeface="Times New Roman" pitchFamily="18" charset="0"/>
                <a:cs typeface="Times New Roman" pitchFamily="18" charset="0"/>
              </a:rPr>
              <a:t>, ESP32, or Raspberry Pi.</a:t>
            </a:r>
          </a:p>
          <a:p>
            <a:r>
              <a:rPr lang="en-GB" sz="1400" dirty="0" smtClean="0">
                <a:latin typeface="Times New Roman" pitchFamily="18" charset="0"/>
                <a:cs typeface="Times New Roman" pitchFamily="18" charset="0"/>
              </a:rPr>
              <a:t>• The collected data is transmitted to a cloud platform or local storage for continuous data logging and monitoring.</a:t>
            </a:r>
          </a:p>
          <a:p>
            <a:r>
              <a:rPr lang="en-GB" sz="1400" dirty="0" smtClean="0">
                <a:latin typeface="Times New Roman" pitchFamily="18" charset="0"/>
                <a:cs typeface="Times New Roman" pitchFamily="18" charset="0"/>
              </a:rPr>
              <a:t>• Image comparison and data analysis techniques are used to identify gradual changes in rock surface and environmental impact.</a:t>
            </a:r>
          </a:p>
          <a:p>
            <a:r>
              <a:rPr lang="en-GB" sz="1400" dirty="0" smtClean="0">
                <a:latin typeface="Times New Roman" pitchFamily="18" charset="0"/>
                <a:cs typeface="Times New Roman" pitchFamily="18" charset="0"/>
              </a:rPr>
              <a:t>• A dashboard is developed to visualize environmental parameters and rock surface changes for long-term observation and analysis</a:t>
            </a:r>
            <a:r>
              <a:rPr lang="en-GB" sz="1400" dirty="0" smtClean="0">
                <a:latin typeface="Times New Roman" pitchFamily="18" charset="0"/>
                <a:cs typeface="Times New Roman" pitchFamily="18" charset="0"/>
              </a:rPr>
              <a:t>.</a:t>
            </a:r>
          </a:p>
          <a:p>
            <a:r>
              <a:rPr lang="en-GB" sz="1400" dirty="0" smtClean="0">
                <a:latin typeface="Times New Roman" pitchFamily="18" charset="0"/>
                <a:cs typeface="Times New Roman" pitchFamily="18" charset="0"/>
              </a:rPr>
              <a:t>• The system performs continuous monitoring at regular time intervals to ensure accurate tracking of gradual weathering and patina formation.</a:t>
            </a:r>
          </a:p>
          <a:p>
            <a:r>
              <a:rPr lang="en-GB" sz="1400" dirty="0" smtClean="0">
                <a:latin typeface="Times New Roman" pitchFamily="18" charset="0"/>
                <a:cs typeface="Times New Roman" pitchFamily="18" charset="0"/>
              </a:rPr>
              <a:t>• Wireless communication such as Wi-Fi is used to enable remote monitoring and access to collected data from any location.</a:t>
            </a:r>
          </a:p>
          <a:p>
            <a:r>
              <a:rPr lang="en-GB" sz="1400" dirty="0" smtClean="0">
                <a:latin typeface="Times New Roman" pitchFamily="18" charset="0"/>
                <a:cs typeface="Times New Roman" pitchFamily="18" charset="0"/>
              </a:rPr>
              <a:t>• The proposed system provides automated alerts and graphical visualization to help users easily analyze long-term rock surface changes.</a:t>
            </a:r>
          </a:p>
          <a:p>
            <a:endParaRPr lang="en-GB" sz="1400" dirty="0" smtClean="0">
              <a:latin typeface="Times New Roman" pitchFamily="18" charset="0"/>
              <a:cs typeface="Times New Roman" pitchFamily="18" charset="0"/>
            </a:endParaRP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Proposed System Architecture</a:t>
            </a:r>
          </a:p>
        </p:txBody>
      </p:sp>
      <p:sp>
        <p:nvSpPr>
          <p:cNvPr id="17411" name="Rectangle 3"/>
          <p:cNvSpPr>
            <a:spLocks noGrp="1"/>
          </p:cNvSpPr>
          <p:nvPr>
            <p:ph idx="1"/>
          </p:nvPr>
        </p:nvSpPr>
        <p:spPr>
          <a:xfrm>
            <a:off x="692727" y="1449677"/>
            <a:ext cx="8229600" cy="3297237"/>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C27BE6DF-541C-4495-BC6C-4CB756F946FF}"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5977514"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7</a:t>
            </a:fld>
            <a:endParaRPr lang="en-US" altLang="en-US"/>
          </a:p>
        </p:txBody>
      </p:sp>
      <p:pic>
        <p:nvPicPr>
          <p:cNvPr id="7" name="Picture 6" descr="Proposed system architecture flowchart.png"/>
          <p:cNvPicPr>
            <a:picLocks noChangeAspect="1"/>
          </p:cNvPicPr>
          <p:nvPr/>
        </p:nvPicPr>
        <p:blipFill>
          <a:blip r:embed="rId2"/>
          <a:stretch>
            <a:fillRect/>
          </a:stretch>
        </p:blipFill>
        <p:spPr>
          <a:xfrm>
            <a:off x="1829666" y="1066801"/>
            <a:ext cx="5091545" cy="339436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smtClean="0">
                <a:solidFill>
                  <a:srgbClr val="FFC000"/>
                </a:solidFill>
              </a:rPr>
              <a:t>Summary of Module -1  </a:t>
            </a:r>
            <a:endParaRPr lang="en-US" altLang="en-US" dirty="0">
              <a:solidFill>
                <a:srgbClr val="FFC000"/>
              </a:solidFill>
            </a:endParaRPr>
          </a:p>
        </p:txBody>
      </p:sp>
      <p:sp>
        <p:nvSpPr>
          <p:cNvPr id="17411" name="Rectangle 3"/>
          <p:cNvSpPr>
            <a:spLocks noGrp="1"/>
          </p:cNvSpPr>
          <p:nvPr>
            <p:ph idx="1"/>
          </p:nvPr>
        </p:nvSpPr>
        <p:spPr>
          <a:xfrm>
            <a:off x="457200" y="969819"/>
            <a:ext cx="8229600" cy="3659332"/>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6F33DD6B-0B28-491A-A486-1BACEB1B935B}"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8</a:t>
            </a:fld>
            <a:endParaRPr lang="en-US" altLang="en-US"/>
          </a:p>
        </p:txBody>
      </p:sp>
      <p:sp>
        <p:nvSpPr>
          <p:cNvPr id="7" name="TextBox 6"/>
          <p:cNvSpPr txBox="1"/>
          <p:nvPr/>
        </p:nvSpPr>
        <p:spPr>
          <a:xfrm>
            <a:off x="401781" y="1170709"/>
            <a:ext cx="8585057" cy="3108543"/>
          </a:xfrm>
          <a:prstGeom prst="rect">
            <a:avLst/>
          </a:prstGeom>
          <a:noFill/>
        </p:spPr>
        <p:txBody>
          <a:bodyPr wrap="square" rtlCol="0">
            <a:spAutoFit/>
          </a:bodyPr>
          <a:lstStyle/>
          <a:p>
            <a:r>
              <a:rPr lang="en-GB" sz="1400" dirty="0" smtClean="0">
                <a:latin typeface="Times New Roman" pitchFamily="18" charset="0"/>
                <a:cs typeface="Times New Roman" pitchFamily="18" charset="0"/>
              </a:rPr>
              <a:t>• Module-1 focuses on collecting environmental parameters such as temperature, humidity, and light intensity that influence rock weathering and patina formation.</a:t>
            </a:r>
          </a:p>
          <a:p>
            <a:r>
              <a:rPr lang="en-GB" sz="1400" dirty="0" smtClean="0">
                <a:latin typeface="Times New Roman" pitchFamily="18" charset="0"/>
                <a:cs typeface="Times New Roman" pitchFamily="18" charset="0"/>
              </a:rPr>
              <a:t>• Environmental sensors continuously monitor surrounding weather conditions and provide real-time data for analysis.</a:t>
            </a:r>
          </a:p>
          <a:p>
            <a:r>
              <a:rPr lang="en-GB" sz="1400" dirty="0" smtClean="0">
                <a:latin typeface="Times New Roman" pitchFamily="18" charset="0"/>
                <a:cs typeface="Times New Roman" pitchFamily="18" charset="0"/>
              </a:rPr>
              <a:t>• A camera module is used to capture periodic images of the rock surface to observe gradual changes in </a:t>
            </a:r>
            <a:r>
              <a:rPr lang="en-GB" sz="1400" dirty="0" err="1" smtClean="0">
                <a:latin typeface="Times New Roman" pitchFamily="18" charset="0"/>
                <a:cs typeface="Times New Roman" pitchFamily="18" charset="0"/>
              </a:rPr>
              <a:t>color</a:t>
            </a:r>
            <a:r>
              <a:rPr lang="en-GB" sz="1400" dirty="0" smtClean="0">
                <a:latin typeface="Times New Roman" pitchFamily="18" charset="0"/>
                <a:cs typeface="Times New Roman" pitchFamily="18" charset="0"/>
              </a:rPr>
              <a:t> and texture.</a:t>
            </a:r>
          </a:p>
          <a:p>
            <a:r>
              <a:rPr lang="en-GB" sz="1400" dirty="0" smtClean="0">
                <a:latin typeface="Times New Roman" pitchFamily="18" charset="0"/>
                <a:cs typeface="Times New Roman" pitchFamily="18" charset="0"/>
              </a:rPr>
              <a:t>• The collected sensor data and captured images are transmitted to the microcontroller for processing.</a:t>
            </a:r>
          </a:p>
          <a:p>
            <a:r>
              <a:rPr lang="en-GB" sz="1400" dirty="0" smtClean="0">
                <a:latin typeface="Times New Roman" pitchFamily="18" charset="0"/>
                <a:cs typeface="Times New Roman" pitchFamily="18" charset="0"/>
              </a:rPr>
              <a:t>• This module performs continuous monitoring and data acquisition for weathering observation.</a:t>
            </a:r>
          </a:p>
          <a:p>
            <a:r>
              <a:rPr lang="en-GB" sz="1400" dirty="0" smtClean="0">
                <a:latin typeface="Times New Roman" pitchFamily="18" charset="0"/>
                <a:cs typeface="Times New Roman" pitchFamily="18" charset="0"/>
              </a:rPr>
              <a:t>• The gathered data serves as input for further analysis and long-term rock surface monitoring</a:t>
            </a:r>
            <a:r>
              <a:rPr lang="en-GB" sz="1400" dirty="0" smtClean="0">
                <a:latin typeface="Times New Roman" pitchFamily="18" charset="0"/>
                <a:cs typeface="Times New Roman" pitchFamily="18" charset="0"/>
              </a:rPr>
              <a:t>.</a:t>
            </a:r>
          </a:p>
          <a:p>
            <a:r>
              <a:rPr lang="en-GB" sz="1400" dirty="0" smtClean="0"/>
              <a:t>• </a:t>
            </a:r>
            <a:r>
              <a:rPr lang="en-GB" sz="1400" dirty="0" smtClean="0">
                <a:latin typeface="Times New Roman" pitchFamily="18" charset="0"/>
                <a:cs typeface="Times New Roman" pitchFamily="18" charset="0"/>
              </a:rPr>
              <a:t>The module ensures continuous data collection at regular time intervals to improve accuracy in monitoring weathering conditions.</a:t>
            </a:r>
          </a:p>
          <a:p>
            <a:r>
              <a:rPr lang="en-GB" sz="1400" dirty="0" smtClean="0">
                <a:latin typeface="Times New Roman" pitchFamily="18" charset="0"/>
                <a:cs typeface="Times New Roman" pitchFamily="18" charset="0"/>
              </a:rPr>
              <a:t>• The system supports real-time monitoring of environmental factors affecting rock surface changes.</a:t>
            </a:r>
          </a:p>
          <a:p>
            <a:r>
              <a:rPr lang="en-GB" sz="1400" dirty="0" smtClean="0">
                <a:latin typeface="Times New Roman" pitchFamily="18" charset="0"/>
                <a:cs typeface="Times New Roman" pitchFamily="18" charset="0"/>
              </a:rPr>
              <a:t>• The collected data is prepared for transmission to storage and analysis modules for further processing.</a:t>
            </a:r>
          </a:p>
          <a:p>
            <a:endParaRPr lang="en-GB"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smtClean="0">
                <a:solidFill>
                  <a:srgbClr val="FFC000"/>
                </a:solidFill>
              </a:rPr>
              <a:t>Summary of   Module -2  </a:t>
            </a:r>
            <a:endParaRPr lang="en-US" altLang="en-US" dirty="0">
              <a:solidFill>
                <a:srgbClr val="FFC000"/>
              </a:solidFill>
            </a:endParaRPr>
          </a:p>
        </p:txBody>
      </p:sp>
      <p:sp>
        <p:nvSpPr>
          <p:cNvPr id="17411" name="Rectangle 3"/>
          <p:cNvSpPr>
            <a:spLocks noGrp="1"/>
          </p:cNvSpPr>
          <p:nvPr>
            <p:ph idx="1"/>
          </p:nvPr>
        </p:nvSpPr>
        <p:spPr>
          <a:xfrm>
            <a:off x="457200" y="1331913"/>
            <a:ext cx="8229600" cy="3297237"/>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6D4D9957-7CDC-40CA-BDB9-1A230A56E468}"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9</a:t>
            </a:fld>
            <a:endParaRPr lang="en-US" altLang="en-US"/>
          </a:p>
        </p:txBody>
      </p:sp>
      <p:sp>
        <p:nvSpPr>
          <p:cNvPr id="7" name="TextBox 6"/>
          <p:cNvSpPr txBox="1"/>
          <p:nvPr/>
        </p:nvSpPr>
        <p:spPr>
          <a:xfrm>
            <a:off x="318655" y="1143000"/>
            <a:ext cx="8476168" cy="2893100"/>
          </a:xfrm>
          <a:prstGeom prst="rect">
            <a:avLst/>
          </a:prstGeom>
          <a:noFill/>
        </p:spPr>
        <p:txBody>
          <a:bodyPr wrap="square" rtlCol="0">
            <a:spAutoFit/>
          </a:bodyPr>
          <a:lstStyle/>
          <a:p>
            <a:r>
              <a:rPr lang="en-GB" sz="1400" dirty="0" smtClean="0">
                <a:latin typeface="Times New Roman" pitchFamily="18" charset="0"/>
                <a:cs typeface="Times New Roman" pitchFamily="18" charset="0"/>
              </a:rPr>
              <a:t>• Module-2 focuses on processing the collected sensor data and captured rock surface images using a microcontroller.</a:t>
            </a:r>
          </a:p>
          <a:p>
            <a:r>
              <a:rPr lang="en-GB" sz="1400" dirty="0" smtClean="0">
                <a:latin typeface="Times New Roman" pitchFamily="18" charset="0"/>
                <a:cs typeface="Times New Roman" pitchFamily="18" charset="0"/>
              </a:rPr>
              <a:t>• The system filters and organizes environmental data such as temperature, humidity, and light intensity for further analysis.</a:t>
            </a:r>
          </a:p>
          <a:p>
            <a:r>
              <a:rPr lang="en-GB" sz="1400" dirty="0" smtClean="0">
                <a:latin typeface="Times New Roman" pitchFamily="18" charset="0"/>
                <a:cs typeface="Times New Roman" pitchFamily="18" charset="0"/>
              </a:rPr>
              <a:t>• Captured images are stored and prepared for comparison to detect gradual rock surface changes.</a:t>
            </a:r>
          </a:p>
          <a:p>
            <a:r>
              <a:rPr lang="en-GB" sz="1400" dirty="0" smtClean="0">
                <a:latin typeface="Times New Roman" pitchFamily="18" charset="0"/>
                <a:cs typeface="Times New Roman" pitchFamily="18" charset="0"/>
              </a:rPr>
              <a:t>• The processed data is transmitted to cloud storage or local database for long-term monitoring.</a:t>
            </a:r>
          </a:p>
          <a:p>
            <a:r>
              <a:rPr lang="en-GB" sz="1400" dirty="0" smtClean="0">
                <a:latin typeface="Times New Roman" pitchFamily="18" charset="0"/>
                <a:cs typeface="Times New Roman" pitchFamily="18" charset="0"/>
              </a:rPr>
              <a:t>• Wireless communication such as Wi-Fi is used to enable remote data transfer and access.</a:t>
            </a:r>
          </a:p>
          <a:p>
            <a:r>
              <a:rPr lang="en-GB" sz="1400" dirty="0" smtClean="0">
                <a:latin typeface="Times New Roman" pitchFamily="18" charset="0"/>
                <a:cs typeface="Times New Roman" pitchFamily="18" charset="0"/>
              </a:rPr>
              <a:t>• This module acts as an intermediate stage between data collection and final analysis</a:t>
            </a:r>
            <a:r>
              <a:rPr lang="en-GB" sz="1400" dirty="0" smtClean="0">
                <a:latin typeface="Times New Roman" pitchFamily="18" charset="0"/>
                <a:cs typeface="Times New Roman" pitchFamily="18" charset="0"/>
              </a:rPr>
              <a:t>.</a:t>
            </a:r>
          </a:p>
          <a:p>
            <a:r>
              <a:rPr lang="en-GB" sz="1400" dirty="0" smtClean="0">
                <a:latin typeface="Times New Roman" pitchFamily="18" charset="0"/>
                <a:cs typeface="Times New Roman" pitchFamily="18" charset="0"/>
              </a:rPr>
              <a:t>• The module ensures reliable data transmission from the microcontroller to the storage system without data loss.</a:t>
            </a:r>
          </a:p>
          <a:p>
            <a:r>
              <a:rPr lang="en-GB" sz="1400" dirty="0" smtClean="0">
                <a:latin typeface="Times New Roman" pitchFamily="18" charset="0"/>
                <a:cs typeface="Times New Roman" pitchFamily="18" charset="0"/>
              </a:rPr>
              <a:t>• It supports continuous operation for long-term monitoring of environmental conditions and rock surface images.</a:t>
            </a:r>
          </a:p>
          <a:p>
            <a:r>
              <a:rPr lang="en-GB" sz="1400" dirty="0" smtClean="0">
                <a:latin typeface="Times New Roman" pitchFamily="18" charset="0"/>
                <a:cs typeface="Times New Roman" pitchFamily="18" charset="0"/>
              </a:rPr>
              <a:t>• The system organizes collected data based on time intervals for easy comparison and tracking.</a:t>
            </a:r>
          </a:p>
          <a:p>
            <a:r>
              <a:rPr lang="en-GB" sz="1400" dirty="0" smtClean="0">
                <a:latin typeface="Times New Roman" pitchFamily="18" charset="0"/>
                <a:cs typeface="Times New Roman" pitchFamily="18" charset="0"/>
              </a:rPr>
              <a:t>• Module-2 prepares the processed data for visualization and analysis in the next stage.</a:t>
            </a:r>
          </a:p>
          <a:p>
            <a:endParaRPr lang="en-GB"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smtClean="0">
                <a:solidFill>
                  <a:srgbClr val="FFC000"/>
                </a:solidFill>
              </a:rPr>
              <a:t>Summary of  Modules -3  </a:t>
            </a:r>
            <a:endParaRPr lang="en-US" altLang="en-US" dirty="0">
              <a:solidFill>
                <a:srgbClr val="FFC000"/>
              </a:solidFill>
            </a:endParaRPr>
          </a:p>
        </p:txBody>
      </p:sp>
      <p:sp>
        <p:nvSpPr>
          <p:cNvPr id="17411" name="Rectangle 3"/>
          <p:cNvSpPr>
            <a:spLocks noGrp="1"/>
          </p:cNvSpPr>
          <p:nvPr>
            <p:ph idx="1"/>
          </p:nvPr>
        </p:nvSpPr>
        <p:spPr>
          <a:xfrm>
            <a:off x="457200" y="1331913"/>
            <a:ext cx="8229600" cy="3297237"/>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8037AF3A-1BA4-4ABC-931A-1FCF1E47830D}"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6046787"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10</a:t>
            </a:fld>
            <a:endParaRPr lang="en-US" altLang="en-US"/>
          </a:p>
        </p:txBody>
      </p:sp>
      <p:sp>
        <p:nvSpPr>
          <p:cNvPr id="7" name="TextBox 6"/>
          <p:cNvSpPr txBox="1"/>
          <p:nvPr/>
        </p:nvSpPr>
        <p:spPr>
          <a:xfrm>
            <a:off x="325581" y="1094509"/>
            <a:ext cx="8463179" cy="2677656"/>
          </a:xfrm>
          <a:prstGeom prst="rect">
            <a:avLst/>
          </a:prstGeom>
          <a:noFill/>
        </p:spPr>
        <p:txBody>
          <a:bodyPr wrap="square" rtlCol="0">
            <a:spAutoFit/>
          </a:bodyPr>
          <a:lstStyle/>
          <a:p>
            <a:r>
              <a:rPr lang="en-GB" sz="1400" dirty="0" smtClean="0">
                <a:latin typeface="Times New Roman" pitchFamily="18" charset="0"/>
                <a:cs typeface="Times New Roman" pitchFamily="18" charset="0"/>
              </a:rPr>
              <a:t>• Module-3 focuses on analyzing the stored environmental data and captured rock surface images.</a:t>
            </a:r>
          </a:p>
          <a:p>
            <a:r>
              <a:rPr lang="en-GB" sz="1400" dirty="0" smtClean="0">
                <a:latin typeface="Times New Roman" pitchFamily="18" charset="0"/>
                <a:cs typeface="Times New Roman" pitchFamily="18" charset="0"/>
              </a:rPr>
              <a:t>• Image comparison techniques are used to identify gradual changes in rock </a:t>
            </a:r>
            <a:r>
              <a:rPr lang="en-GB" sz="1400" dirty="0" err="1" smtClean="0">
                <a:latin typeface="Times New Roman" pitchFamily="18" charset="0"/>
                <a:cs typeface="Times New Roman" pitchFamily="18" charset="0"/>
              </a:rPr>
              <a:t>color</a:t>
            </a:r>
            <a:r>
              <a:rPr lang="en-GB" sz="1400" dirty="0" smtClean="0">
                <a:latin typeface="Times New Roman" pitchFamily="18" charset="0"/>
                <a:cs typeface="Times New Roman" pitchFamily="18" charset="0"/>
              </a:rPr>
              <a:t>, texture, and patina formation.</a:t>
            </a:r>
          </a:p>
          <a:p>
            <a:r>
              <a:rPr lang="en-GB" sz="1400" dirty="0" smtClean="0">
                <a:latin typeface="Times New Roman" pitchFamily="18" charset="0"/>
                <a:cs typeface="Times New Roman" pitchFamily="18" charset="0"/>
              </a:rPr>
              <a:t>• The analyzed data is used to generate graphs and visual representations of environmental variations.</a:t>
            </a:r>
          </a:p>
          <a:p>
            <a:r>
              <a:rPr lang="en-GB" sz="1400" dirty="0" smtClean="0">
                <a:latin typeface="Times New Roman" pitchFamily="18" charset="0"/>
                <a:cs typeface="Times New Roman" pitchFamily="18" charset="0"/>
              </a:rPr>
              <a:t>• A dashboard is developed to display monitoring results and rock surface changes over time.</a:t>
            </a:r>
          </a:p>
          <a:p>
            <a:r>
              <a:rPr lang="en-GB" sz="1400" dirty="0" smtClean="0">
                <a:latin typeface="Times New Roman" pitchFamily="18" charset="0"/>
                <a:cs typeface="Times New Roman" pitchFamily="18" charset="0"/>
              </a:rPr>
              <a:t>• The system enables long-term comparison of data collected at different time intervals.</a:t>
            </a:r>
          </a:p>
          <a:p>
            <a:r>
              <a:rPr lang="en-GB" sz="1400" dirty="0" smtClean="0">
                <a:latin typeface="Times New Roman" pitchFamily="18" charset="0"/>
                <a:cs typeface="Times New Roman" pitchFamily="18" charset="0"/>
              </a:rPr>
              <a:t>• This module provides final output and helps in understanding the impact of environmental conditions on rock weathering</a:t>
            </a:r>
            <a:r>
              <a:rPr lang="en-GB" sz="1400" dirty="0" smtClean="0">
                <a:latin typeface="Times New Roman" pitchFamily="18" charset="0"/>
                <a:cs typeface="Times New Roman" pitchFamily="18" charset="0"/>
              </a:rPr>
              <a:t>.</a:t>
            </a:r>
          </a:p>
          <a:p>
            <a:r>
              <a:rPr lang="en-GB" sz="1400" dirty="0" smtClean="0">
                <a:latin typeface="Times New Roman" pitchFamily="18" charset="0"/>
                <a:cs typeface="Times New Roman" pitchFamily="18" charset="0"/>
              </a:rPr>
              <a:t>• The module performs automated analysis to detect gradual weathering and patina formation on rock surfaces.</a:t>
            </a:r>
          </a:p>
          <a:p>
            <a:r>
              <a:rPr lang="en-GB" sz="1400" dirty="0" smtClean="0">
                <a:latin typeface="Times New Roman" pitchFamily="18" charset="0"/>
                <a:cs typeface="Times New Roman" pitchFamily="18" charset="0"/>
              </a:rPr>
              <a:t>• It provides graphical visualization and comparison of environmental data over time.</a:t>
            </a:r>
          </a:p>
          <a:p>
            <a:r>
              <a:rPr lang="en-GB" sz="1400" dirty="0" smtClean="0">
                <a:latin typeface="Times New Roman" pitchFamily="18" charset="0"/>
                <a:cs typeface="Times New Roman" pitchFamily="18" charset="0"/>
              </a:rPr>
              <a:t>• The final results are displayed to the user for easy monitoring and interpretation of rock weathering changes.</a:t>
            </a:r>
          </a:p>
          <a:p>
            <a:endParaRPr lang="en-GB" sz="1400" dirty="0" smtClean="0">
              <a:latin typeface="Times New Roman" pitchFamily="18" charset="0"/>
              <a:cs typeface="Times New Roman" pitchFamily="18" charset="0"/>
            </a:endParaRP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smtClean="0">
                <a:solidFill>
                  <a:srgbClr val="FFC000"/>
                </a:solidFill>
              </a:rPr>
              <a:t>Summary of   Modules -4  </a:t>
            </a:r>
            <a:endParaRPr lang="en-US" altLang="en-US" dirty="0">
              <a:solidFill>
                <a:srgbClr val="FFC000"/>
              </a:solidFill>
            </a:endParaRPr>
          </a:p>
        </p:txBody>
      </p:sp>
      <p:sp>
        <p:nvSpPr>
          <p:cNvPr id="17411" name="Rectangle 3"/>
          <p:cNvSpPr>
            <a:spLocks noGrp="1"/>
          </p:cNvSpPr>
          <p:nvPr>
            <p:ph idx="1"/>
          </p:nvPr>
        </p:nvSpPr>
        <p:spPr>
          <a:xfrm>
            <a:off x="457200" y="1331913"/>
            <a:ext cx="8229600" cy="3297237"/>
          </a:xfrm>
        </p:spPr>
        <p:txBody>
          <a:bodyPr/>
          <a:lstStyle/>
          <a:p>
            <a:pPr algn="just"/>
            <a:endParaRPr lang="en-US" sz="2400" dirty="0" smtClean="0">
              <a:latin typeface="Times New Roman" pitchFamily="18" charset="0"/>
              <a:cs typeface="Times New Roman" pitchFamily="18" charset="0"/>
            </a:endParaRPr>
          </a:p>
          <a:p>
            <a:pPr marL="119062" indent="0">
              <a:buNone/>
            </a:pPr>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3C11450C-0D11-4C1F-BD96-C7A07FB7E0FC}"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6026005"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11</a:t>
            </a:fld>
            <a:endParaRPr lang="en-US" altLang="en-US"/>
          </a:p>
        </p:txBody>
      </p:sp>
      <p:sp>
        <p:nvSpPr>
          <p:cNvPr id="7" name="TextBox 6"/>
          <p:cNvSpPr txBox="1"/>
          <p:nvPr/>
        </p:nvSpPr>
        <p:spPr>
          <a:xfrm>
            <a:off x="304800" y="1184564"/>
            <a:ext cx="8560594" cy="2246769"/>
          </a:xfrm>
          <a:prstGeom prst="rect">
            <a:avLst/>
          </a:prstGeom>
          <a:noFill/>
        </p:spPr>
        <p:txBody>
          <a:bodyPr wrap="square" rtlCol="0">
            <a:spAutoFit/>
          </a:bodyPr>
          <a:lstStyle/>
          <a:p>
            <a:r>
              <a:rPr lang="en-GB" sz="1400" dirty="0" smtClean="0">
                <a:latin typeface="Times New Roman" pitchFamily="18" charset="0"/>
                <a:cs typeface="Times New Roman" pitchFamily="18" charset="0"/>
              </a:rPr>
              <a:t>• Module-4 focuses on displaying the analyzed data through a user-friendly dashboard interface.</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system presents environmental parameters such as temperature, humidity, and light intensity in graphical form.</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Captured rock surface images are displayed for visual comparison over different time intervals.</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module enables real-time monitoring of rock weathering and patina formation.</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Historical data is stored and used for long-term comparison and analysis.</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dashboard allows users to observe trends in environmental conditions affecting rocks.</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Remote access is provided so users can monitor the system from any location.</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system generates alerts or notifications when significant changes are detected.</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Module-4 provides final visualization and reporting for easy understanding of rock weathering </a:t>
            </a:r>
            <a:r>
              <a:rPr lang="en-GB" sz="1400" dirty="0" err="1" smtClean="0">
                <a:latin typeface="Times New Roman" pitchFamily="18" charset="0"/>
                <a:cs typeface="Times New Roman" pitchFamily="18" charset="0"/>
              </a:rPr>
              <a:t>behavior</a:t>
            </a:r>
            <a:r>
              <a:rPr lang="en-GB" sz="1400" dirty="0" smtClean="0">
                <a:latin typeface="Times New Roman" pitchFamily="18" charset="0"/>
                <a:cs typeface="Times New Roman" pitchFamily="18" charset="0"/>
              </a:rPr>
              <a:t>.</a:t>
            </a: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defRPr/>
            </a:pPr>
            <a:r>
              <a:rPr lang="en-US" altLang="en-US" dirty="0">
                <a:solidFill>
                  <a:srgbClr val="FFC000"/>
                </a:solidFill>
              </a:rPr>
              <a:t> Implementation Details</a:t>
            </a:r>
            <a:br>
              <a:rPr lang="en-US" altLang="en-US" dirty="0">
                <a:solidFill>
                  <a:srgbClr val="FFC000"/>
                </a:solidFill>
              </a:rPr>
            </a:br>
            <a:endParaRPr lang="en-US" altLang="en-US" dirty="0">
              <a:solidFill>
                <a:srgbClr val="FFC000"/>
              </a:solidFill>
            </a:endParaRPr>
          </a:p>
        </p:txBody>
      </p:sp>
      <p:sp>
        <p:nvSpPr>
          <p:cNvPr id="17411" name="Rectangle 3"/>
          <p:cNvSpPr>
            <a:spLocks noGrp="1"/>
          </p:cNvSpPr>
          <p:nvPr>
            <p:ph idx="1"/>
          </p:nvPr>
        </p:nvSpPr>
        <p:spPr>
          <a:xfrm>
            <a:off x="457200" y="1331913"/>
            <a:ext cx="8229600" cy="3297237"/>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758B3E99-CB2E-425E-8CED-51697BF29159}"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5970587"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12</a:t>
            </a:fld>
            <a:endParaRPr lang="en-US" altLang="en-US"/>
          </a:p>
        </p:txBody>
      </p:sp>
      <p:sp>
        <p:nvSpPr>
          <p:cNvPr id="5" name="Rectangle 4"/>
          <p:cNvSpPr/>
          <p:nvPr/>
        </p:nvSpPr>
        <p:spPr>
          <a:xfrm>
            <a:off x="148777" y="791987"/>
            <a:ext cx="8777481" cy="3567643"/>
          </a:xfrm>
          <a:prstGeom prst="rect">
            <a:avLst/>
          </a:prstGeom>
        </p:spPr>
        <p:txBody>
          <a:bodyPr wrap="square">
            <a:spAutoFit/>
          </a:bodyPr>
          <a:lstStyle/>
          <a:p>
            <a:r>
              <a:rPr lang="en-GB" b="1" dirty="0" smtClean="0">
                <a:latin typeface="Times New Roman" pitchFamily="18" charset="0"/>
                <a:cs typeface="Times New Roman" pitchFamily="18" charset="0"/>
              </a:rPr>
              <a:t>Data Acquisition</a:t>
            </a:r>
            <a:r>
              <a:rPr lang="en-GB" b="1" dirty="0" smtClean="0"/>
              <a:t>:</a:t>
            </a:r>
            <a:r>
              <a:rPr lang="en-GB" dirty="0" smtClean="0"/>
              <a:t/>
            </a:r>
            <a:br>
              <a:rPr lang="en-GB" dirty="0" smtClean="0"/>
            </a:br>
            <a:r>
              <a:rPr lang="en-GB" sz="1400" dirty="0" smtClean="0"/>
              <a:t>Environmental sensors such as temperature, humidity, and light sensors are used to collect real-time data affecting rock weathering. A camera module captures periodic images of the rock surface. The collected data is acquired through a microcontroller and stored in cloud or local storage for further processing</a:t>
            </a:r>
            <a:r>
              <a:rPr lang="en-GB" sz="1400" dirty="0" smtClean="0"/>
              <a:t>.</a:t>
            </a:r>
          </a:p>
          <a:p>
            <a:endParaRPr lang="en-GB" sz="1400" dirty="0" smtClean="0"/>
          </a:p>
          <a:p>
            <a:r>
              <a:rPr lang="en-GB" sz="1400" b="1" dirty="0" smtClean="0">
                <a:latin typeface="Times New Roman" pitchFamily="18" charset="0"/>
                <a:cs typeface="Times New Roman" pitchFamily="18" charset="0"/>
              </a:rPr>
              <a:t>Data </a:t>
            </a:r>
            <a:r>
              <a:rPr lang="en-GB" sz="1400" b="1" dirty="0" err="1" smtClean="0">
                <a:latin typeface="Times New Roman" pitchFamily="18" charset="0"/>
                <a:cs typeface="Times New Roman" pitchFamily="18" charset="0"/>
              </a:rPr>
              <a:t>Preprocessing</a:t>
            </a:r>
            <a:r>
              <a:rPr lang="en-GB" sz="1400" b="1" dirty="0" smtClean="0">
                <a:latin typeface="Times New Roman" pitchFamily="18" charset="0"/>
                <a:cs typeface="Times New Roman" pitchFamily="18" charset="0"/>
              </a:rPr>
              <a:t>:</a:t>
            </a:r>
            <a:r>
              <a:rPr lang="en-GB" sz="1400" dirty="0" smtClean="0"/>
              <a:t/>
            </a:r>
            <a:br>
              <a:rPr lang="en-GB" sz="1400" dirty="0" smtClean="0"/>
            </a:br>
            <a:r>
              <a:rPr lang="en-GB" sz="1400" dirty="0" smtClean="0"/>
              <a:t>The collected sensor data is filtered, organized, and formatted for analysis. Image </a:t>
            </a:r>
            <a:r>
              <a:rPr lang="en-GB" sz="1400" dirty="0" err="1" smtClean="0"/>
              <a:t>preprocessing</a:t>
            </a:r>
            <a:r>
              <a:rPr lang="en-GB" sz="1400" dirty="0" smtClean="0"/>
              <a:t> such as resizing, normalization, and noise removal is performed to improve comparison accuracy. The processed data is structured based on time intervals for easy tracking of rock surface changes</a:t>
            </a:r>
            <a:r>
              <a:rPr lang="en-GB" sz="1400" dirty="0" smtClean="0"/>
              <a:t>.</a:t>
            </a:r>
          </a:p>
          <a:p>
            <a:endParaRPr lang="en-GB" sz="1400" dirty="0" smtClean="0"/>
          </a:p>
          <a:p>
            <a:r>
              <a:rPr lang="en-GB" sz="1400" b="1" dirty="0" smtClean="0">
                <a:latin typeface="Times New Roman" pitchFamily="18" charset="0"/>
                <a:cs typeface="Times New Roman" pitchFamily="18" charset="0"/>
              </a:rPr>
              <a:t>Analysis Model / Processing:</a:t>
            </a:r>
            <a:r>
              <a:rPr lang="en-GB" sz="1400" dirty="0" smtClean="0"/>
              <a:t/>
            </a:r>
            <a:br>
              <a:rPr lang="en-GB" sz="1400" dirty="0" smtClean="0"/>
            </a:br>
            <a:r>
              <a:rPr lang="en-GB" sz="1400" dirty="0" smtClean="0"/>
              <a:t>The system compares captured images over time to detect gradual changes in rock </a:t>
            </a:r>
            <a:r>
              <a:rPr lang="en-GB" sz="1400" dirty="0" err="1" smtClean="0"/>
              <a:t>color</a:t>
            </a:r>
            <a:r>
              <a:rPr lang="en-GB" sz="1400" dirty="0" smtClean="0"/>
              <a:t>, texture, and patina formation. Environmental data is analyzed using graphical visualization techniques. The processed results are stored and displayed on a dashboard for long-term monitoring and analysis.</a:t>
            </a:r>
          </a:p>
          <a:p>
            <a:pPr eaLnBrk="1" fontAlgn="auto" hangingPunct="1">
              <a:lnSpc>
                <a:spcPts val="3079"/>
              </a:lnSpc>
              <a:spcAft>
                <a:spcPts val="0"/>
              </a:spcAft>
              <a:defRPr/>
            </a:pPr>
            <a:endParaRPr lang="en-US" sz="1400" b="1" dirty="0">
              <a:solidFill>
                <a:srgbClr val="000000"/>
              </a:solidFill>
              <a:latin typeface="Open Sans Extra Bold"/>
              <a:ea typeface="Open Sans Extra Bold"/>
              <a:cs typeface="Open Sans Extra Bold"/>
              <a:sym typeface="Open Sans Extra Bold"/>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C000"/>
                </a:solidFill>
              </a:rPr>
              <a:t>Testing &amp; Validation</a:t>
            </a:r>
            <a:r>
              <a:rPr lang="en-IN" dirty="0"/>
              <a:t/>
            </a:r>
            <a:br>
              <a:rPr lang="en-IN" dirty="0"/>
            </a:br>
            <a:endParaRPr lang="en-IN" dirty="0"/>
          </a:p>
        </p:txBody>
      </p:sp>
      <p:sp>
        <p:nvSpPr>
          <p:cNvPr id="3" name="Content Placeholder 2"/>
          <p:cNvSpPr>
            <a:spLocks noGrp="1"/>
          </p:cNvSpPr>
          <p:nvPr>
            <p:ph idx="1"/>
          </p:nvPr>
        </p:nvSpPr>
        <p:spPr>
          <a:xfrm>
            <a:off x="450056" y="907257"/>
            <a:ext cx="8229600" cy="3394472"/>
          </a:xfrm>
        </p:spPr>
        <p:txBody>
          <a:bodyPr>
            <a:normAutofit/>
          </a:bodyPr>
          <a:lstStyle/>
          <a:p>
            <a:r>
              <a:rPr lang="en-GB" sz="1800" b="1" dirty="0" smtClean="0">
                <a:latin typeface="Times New Roman" pitchFamily="18" charset="0"/>
                <a:cs typeface="Times New Roman" pitchFamily="18" charset="0"/>
              </a:rPr>
              <a:t>Testing Methodology:</a:t>
            </a:r>
            <a:r>
              <a:rPr lang="en-GB" sz="1400" dirty="0" smtClean="0">
                <a:latin typeface="Times New Roman" pitchFamily="18" charset="0"/>
                <a:cs typeface="Times New Roman" pitchFamily="18" charset="0"/>
              </a:rPr>
              <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The system is tested by collecting environmental sensor data and capturing rock surface images at regular intervals. The microcontroller functionality, data transmission, and storage modules are verified to ensure proper operation. The dashboard is tested to confirm correct visualization of environmental parameters and rock surface changes.</a:t>
            </a:r>
          </a:p>
          <a:p>
            <a:r>
              <a:rPr lang="en-GB" sz="1800" b="1" dirty="0" smtClean="0">
                <a:latin typeface="Times New Roman" pitchFamily="18" charset="0"/>
                <a:cs typeface="Times New Roman" pitchFamily="18" charset="0"/>
              </a:rPr>
              <a:t>Test Cases:</a:t>
            </a:r>
            <a:r>
              <a:rPr lang="en-GB" sz="1400" dirty="0" smtClean="0">
                <a:latin typeface="Times New Roman" pitchFamily="18" charset="0"/>
                <a:cs typeface="Times New Roman" pitchFamily="18" charset="0"/>
              </a:rPr>
              <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Test cases include verifying sensor readings accuracy, camera image capture at defined intervals, successful data transmission to cloud storage, and correct display of graphs and images on the dashboard. The system is also tested for continuous monitoring and long-term data logging.</a:t>
            </a:r>
          </a:p>
          <a:p>
            <a:r>
              <a:rPr lang="en-GB" sz="1800" b="1" dirty="0" smtClean="0">
                <a:latin typeface="Times New Roman" pitchFamily="18" charset="0"/>
                <a:cs typeface="Times New Roman" pitchFamily="18" charset="0"/>
              </a:rPr>
              <a:t>Validation Metrics:</a:t>
            </a:r>
            <a:r>
              <a:rPr lang="en-GB" sz="1400" dirty="0" smtClean="0">
                <a:latin typeface="Times New Roman" pitchFamily="18" charset="0"/>
                <a:cs typeface="Times New Roman" pitchFamily="18" charset="0"/>
              </a:rPr>
              <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The system performance is validated based on sensor accuracy, data transmission reliability, image comparison results, and dashboard visualization. Additional metrics include system response time, continuous monitoring capability, and successful detection of gradual rock weathering changes.</a:t>
            </a:r>
          </a:p>
          <a:p>
            <a:pPr algn="just">
              <a:defRPr/>
            </a:pPr>
            <a:endParaRPr lang="en-IN" sz="1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BB9E9B86-2CF4-48B1-B6D7-BAFE5AD3290E}"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Tree>
    <p:extLst>
      <p:ext uri="{BB962C8B-B14F-4D97-AF65-F5344CB8AC3E}">
        <p14:creationId xmlns:p14="http://schemas.microsoft.com/office/powerpoint/2010/main" xmlns="" val="81134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500" dirty="0">
                <a:solidFill>
                  <a:srgbClr val="FFC000"/>
                </a:solidFill>
              </a:rPr>
              <a:t>Preliminary Results &amp; Analysis</a:t>
            </a:r>
            <a:br>
              <a:rPr lang="en-IN" sz="3500" dirty="0">
                <a:solidFill>
                  <a:srgbClr val="FFC000"/>
                </a:solidFill>
              </a:rPr>
            </a:br>
            <a:endParaRPr lang="en-IN" sz="3500" dirty="0">
              <a:solidFill>
                <a:srgbClr val="FFC000"/>
              </a:solidFill>
            </a:endParaRPr>
          </a:p>
        </p:txBody>
      </p:sp>
      <p:sp>
        <p:nvSpPr>
          <p:cNvPr id="3" name="Content Placeholder 2"/>
          <p:cNvSpPr>
            <a:spLocks noGrp="1"/>
          </p:cNvSpPr>
          <p:nvPr>
            <p:ph idx="1"/>
          </p:nvPr>
        </p:nvSpPr>
        <p:spPr>
          <a:xfrm>
            <a:off x="450057" y="871539"/>
            <a:ext cx="8229600" cy="3394472"/>
          </a:xfrm>
        </p:spPr>
        <p:txBody>
          <a:bodyPr>
            <a:normAutofit/>
          </a:bodyPr>
          <a:lstStyle/>
          <a:p>
            <a:r>
              <a:rPr lang="en-GB" sz="1800" b="1" dirty="0" smtClean="0">
                <a:latin typeface="Times New Roman" pitchFamily="18" charset="0"/>
                <a:cs typeface="Times New Roman" pitchFamily="18" charset="0"/>
              </a:rPr>
              <a:t>Performance Metrics:</a:t>
            </a:r>
            <a:r>
              <a:rPr lang="en-GB" sz="1400" dirty="0" smtClean="0">
                <a:latin typeface="Times New Roman" pitchFamily="18" charset="0"/>
                <a:cs typeface="Times New Roman" pitchFamily="18" charset="0"/>
              </a:rPr>
              <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The system successfully collected environmental parameters such as temperature, humidity, and light intensity at regular intervals. Rock surface images were captured continuously and stored for comparison. Data transmission to storage and dashboard visualization worked without interruption, ensuring reliable monitoring.</a:t>
            </a:r>
          </a:p>
          <a:p>
            <a:r>
              <a:rPr lang="en-GB" sz="1800" b="1" dirty="0" smtClean="0">
                <a:latin typeface="Times New Roman" pitchFamily="18" charset="0"/>
                <a:cs typeface="Times New Roman" pitchFamily="18" charset="0"/>
              </a:rPr>
              <a:t>Qualitative Analysis:</a:t>
            </a:r>
            <a:r>
              <a:rPr lang="en-GB" sz="1400" dirty="0" smtClean="0">
                <a:latin typeface="Times New Roman" pitchFamily="18" charset="0"/>
                <a:cs typeface="Times New Roman" pitchFamily="18" charset="0"/>
              </a:rPr>
              <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The observed results show gradual changes in rock surface </a:t>
            </a:r>
            <a:r>
              <a:rPr lang="en-GB" sz="1400" dirty="0" err="1" smtClean="0">
                <a:latin typeface="Times New Roman" pitchFamily="18" charset="0"/>
                <a:cs typeface="Times New Roman" pitchFamily="18" charset="0"/>
              </a:rPr>
              <a:t>color</a:t>
            </a:r>
            <a:r>
              <a:rPr lang="en-GB" sz="1400" dirty="0" smtClean="0">
                <a:latin typeface="Times New Roman" pitchFamily="18" charset="0"/>
                <a:cs typeface="Times New Roman" pitchFamily="18" charset="0"/>
              </a:rPr>
              <a:t> and texture under varying environmental conditions. Environmental data trends indicate the influence of humidity and temperature on patina formation. The system effectively identifies visible surface changes over time.</a:t>
            </a:r>
          </a:p>
          <a:p>
            <a:r>
              <a:rPr lang="en-GB" sz="1800" b="1" dirty="0" smtClean="0">
                <a:latin typeface="Times New Roman" pitchFamily="18" charset="0"/>
                <a:cs typeface="Times New Roman" pitchFamily="18" charset="0"/>
              </a:rPr>
              <a:t>Model Accuracy / System Accuracy:</a:t>
            </a:r>
            <a:r>
              <a:rPr lang="en-GB" sz="1400" dirty="0" smtClean="0">
                <a:latin typeface="Times New Roman" pitchFamily="18" charset="0"/>
                <a:cs typeface="Times New Roman" pitchFamily="18" charset="0"/>
              </a:rPr>
              <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The system achieved accurate sensor readings and reliable image capture during testing. Data logging and visualization provided consistent monitoring results. The overall system performance demonstrates effective tracking of rock weathering and patina formation.</a:t>
            </a:r>
          </a:p>
          <a:p>
            <a:pPr algn="just"/>
            <a:endParaRPr lang="en-IN" sz="1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BB9E9B86-2CF4-48B1-B6D7-BAFE5AD3290E}" type="datetime3">
              <a:rPr lang="en-US" smtClean="0"/>
              <a:pPr>
                <a:defRPr/>
              </a:pPr>
              <a:t>10 April 2026</a:t>
            </a:fld>
            <a:endParaRPr lang="en-US" dirty="0"/>
          </a:p>
        </p:txBody>
      </p:sp>
      <p:sp>
        <p:nvSpPr>
          <p:cNvPr id="5" name="Footer Placeholder 4"/>
          <p:cNvSpPr>
            <a:spLocks noGrp="1"/>
          </p:cNvSpPr>
          <p:nvPr>
            <p:ph type="ftr" sz="quarter" idx="11"/>
          </p:nvPr>
        </p:nvSpPr>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Tree>
    <p:extLst>
      <p:ext uri="{BB962C8B-B14F-4D97-AF65-F5344CB8AC3E}">
        <p14:creationId xmlns:p14="http://schemas.microsoft.com/office/powerpoint/2010/main" xmlns="" val="601114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chor="ctr" anchorCtr="1">
            <a:noAutofit/>
          </a:bodyPr>
          <a:lstStyle/>
          <a:p>
            <a:pPr algn="ctr">
              <a:defRPr/>
            </a:pPr>
            <a:r>
              <a:rPr lang="en-US" altLang="en-US" sz="3500" dirty="0" smtClean="0">
                <a:solidFill>
                  <a:srgbClr val="FFC000"/>
                </a:solidFill>
              </a:rPr>
              <a:t>Software &amp; Hardware Requirements  Specification </a:t>
            </a:r>
            <a:endParaRPr lang="en-US" altLang="en-US" sz="3500" dirty="0">
              <a:solidFill>
                <a:srgbClr val="FFC000"/>
              </a:solidFill>
            </a:endParaRPr>
          </a:p>
        </p:txBody>
      </p:sp>
      <p:sp>
        <p:nvSpPr>
          <p:cNvPr id="17411" name="Rectangle 3"/>
          <p:cNvSpPr>
            <a:spLocks noGrp="1"/>
          </p:cNvSpPr>
          <p:nvPr>
            <p:ph idx="1"/>
          </p:nvPr>
        </p:nvSpPr>
        <p:spPr>
          <a:xfrm>
            <a:off x="131619" y="576841"/>
            <a:ext cx="8229600" cy="3297237"/>
          </a:xfrm>
        </p:spPr>
        <p:txBody>
          <a:bodyPr/>
          <a:lstStyle/>
          <a:p>
            <a:pPr algn="just"/>
            <a:endParaRPr lang="en-US" sz="2400" dirty="0" smtClean="0">
              <a:latin typeface="Times New Roman" pitchFamily="18" charset="0"/>
              <a:cs typeface="Times New Roman" pitchFamily="18" charset="0"/>
            </a:endParaRPr>
          </a:p>
          <a:p>
            <a:endParaRPr lang="en-US" altLang="en-US" sz="2400" dirty="0" smtClean="0">
              <a:solidFill>
                <a:srgbClr val="0000FF"/>
              </a:solidFill>
            </a:endParaRPr>
          </a:p>
        </p:txBody>
      </p:sp>
      <p:sp>
        <p:nvSpPr>
          <p:cNvPr id="2" name="Date Placeholder 1"/>
          <p:cNvSpPr>
            <a:spLocks noGrp="1"/>
          </p:cNvSpPr>
          <p:nvPr>
            <p:ph type="dt" sz="half" idx="10"/>
          </p:nvPr>
        </p:nvSpPr>
        <p:spPr/>
        <p:txBody>
          <a:bodyPr/>
          <a:lstStyle/>
          <a:p>
            <a:pPr>
              <a:defRPr/>
            </a:pPr>
            <a:fld id="{02A9E7BC-88D7-4AEC-8A80-D9F328442F02}"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5929023"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1741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E6035934-7A1E-49A9-8F0E-54D446F4B506}" type="slidenum">
              <a:rPr lang="en-US" altLang="en-US"/>
              <a:pPr/>
              <a:t>15</a:t>
            </a:fld>
            <a:endParaRPr lang="en-US" altLang="en-US"/>
          </a:p>
        </p:txBody>
      </p:sp>
      <p:sp>
        <p:nvSpPr>
          <p:cNvPr id="7" name="TextBox 6"/>
          <p:cNvSpPr txBox="1"/>
          <p:nvPr/>
        </p:nvSpPr>
        <p:spPr>
          <a:xfrm>
            <a:off x="311727" y="1184563"/>
            <a:ext cx="4777013" cy="3662541"/>
          </a:xfrm>
          <a:prstGeom prst="rect">
            <a:avLst/>
          </a:prstGeom>
          <a:noFill/>
        </p:spPr>
        <p:txBody>
          <a:bodyPr wrap="none" rtlCol="0">
            <a:spAutoFit/>
          </a:bodyPr>
          <a:lstStyle/>
          <a:p>
            <a:r>
              <a:rPr lang="en-US" b="1" dirty="0" smtClean="0">
                <a:latin typeface="Times New Roman" pitchFamily="18" charset="0"/>
                <a:cs typeface="Times New Roman" pitchFamily="18" charset="0"/>
              </a:rPr>
              <a:t>Software Requirements</a:t>
            </a:r>
          </a:p>
          <a:p>
            <a:r>
              <a:rPr lang="en-US" sz="1400" dirty="0" smtClean="0">
                <a:latin typeface="Times New Roman" pitchFamily="18" charset="0"/>
                <a:cs typeface="Times New Roman" pitchFamily="18" charset="0"/>
              </a:rPr>
              <a:t>• Programming Language: Python / Embedded C / </a:t>
            </a:r>
            <a:r>
              <a:rPr lang="en-US" sz="1400" dirty="0" err="1" smtClean="0">
                <a:latin typeface="Times New Roman" pitchFamily="18" charset="0"/>
                <a:cs typeface="Times New Roman" pitchFamily="18" charset="0"/>
              </a:rPr>
              <a:t>Arduino</a:t>
            </a:r>
            <a:r>
              <a:rPr lang="en-US" sz="1400" dirty="0" smtClean="0">
                <a:latin typeface="Times New Roman" pitchFamily="18" charset="0"/>
                <a:cs typeface="Times New Roman" pitchFamily="18" charset="0"/>
              </a:rPr>
              <a:t> IDE</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Development Tools: </a:t>
            </a:r>
            <a:r>
              <a:rPr lang="en-US" sz="1400" dirty="0" err="1" smtClean="0">
                <a:latin typeface="Times New Roman" pitchFamily="18" charset="0"/>
                <a:cs typeface="Times New Roman" pitchFamily="18" charset="0"/>
              </a:rPr>
              <a:t>Arduino</a:t>
            </a:r>
            <a:r>
              <a:rPr lang="en-US" sz="1400" dirty="0" smtClean="0">
                <a:latin typeface="Times New Roman" pitchFamily="18" charset="0"/>
                <a:cs typeface="Times New Roman" pitchFamily="18" charset="0"/>
              </a:rPr>
              <a:t> IDE, VS Code, Raspberry Pi OS</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IoT</a:t>
            </a:r>
            <a:r>
              <a:rPr lang="en-US" sz="1400" dirty="0" smtClean="0">
                <a:latin typeface="Times New Roman" pitchFamily="18" charset="0"/>
                <a:cs typeface="Times New Roman" pitchFamily="18" charset="0"/>
              </a:rPr>
              <a:t> Platform: </a:t>
            </a:r>
            <a:r>
              <a:rPr lang="en-US" sz="1400" dirty="0" err="1" smtClean="0">
                <a:latin typeface="Times New Roman" pitchFamily="18" charset="0"/>
                <a:cs typeface="Times New Roman" pitchFamily="18" charset="0"/>
              </a:rPr>
              <a:t>ThingSpeak</a:t>
            </a:r>
            <a:r>
              <a:rPr lang="en-US" sz="1400" dirty="0" smtClean="0">
                <a:latin typeface="Times New Roman" pitchFamily="18" charset="0"/>
                <a:cs typeface="Times New Roman" pitchFamily="18" charset="0"/>
              </a:rPr>
              <a:t> / Firebase / </a:t>
            </a:r>
            <a:r>
              <a:rPr lang="en-US" sz="1400" dirty="0" err="1" smtClean="0">
                <a:latin typeface="Times New Roman" pitchFamily="18" charset="0"/>
                <a:cs typeface="Times New Roman" pitchFamily="18" charset="0"/>
              </a:rPr>
              <a:t>Blynk</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Operating System: Windows 10 or Linux</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Image Processing: </a:t>
            </a:r>
            <a:r>
              <a:rPr lang="en-US" sz="1400" dirty="0" err="1" smtClean="0">
                <a:latin typeface="Times New Roman" pitchFamily="18" charset="0"/>
                <a:cs typeface="Times New Roman" pitchFamily="18" charset="0"/>
              </a:rPr>
              <a:t>OpenCV</a:t>
            </a:r>
            <a:r>
              <a:rPr lang="en-US" sz="1400" dirty="0" smtClean="0">
                <a:latin typeface="Times New Roman" pitchFamily="18" charset="0"/>
                <a:cs typeface="Times New Roman" pitchFamily="18" charset="0"/>
              </a:rPr>
              <a:t> (optional)</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Database: Cloud Storage / Local Database</a:t>
            </a:r>
          </a:p>
          <a:p>
            <a:r>
              <a:rPr lang="en-US" b="1" dirty="0" smtClean="0">
                <a:latin typeface="Times New Roman" pitchFamily="18" charset="0"/>
                <a:cs typeface="Times New Roman" pitchFamily="18" charset="0"/>
              </a:rPr>
              <a:t>Hardware Requirements</a:t>
            </a:r>
          </a:p>
          <a:p>
            <a:r>
              <a:rPr lang="en-US" sz="1400" dirty="0" smtClean="0">
                <a:latin typeface="Times New Roman" pitchFamily="18" charset="0"/>
                <a:cs typeface="Times New Roman" pitchFamily="18" charset="0"/>
              </a:rPr>
              <a:t>• Microcontroller: ESP32 / </a:t>
            </a:r>
            <a:r>
              <a:rPr lang="en-US" sz="1400" dirty="0" err="1" smtClean="0">
                <a:latin typeface="Times New Roman" pitchFamily="18" charset="0"/>
                <a:cs typeface="Times New Roman" pitchFamily="18" charset="0"/>
              </a:rPr>
              <a:t>Arduino</a:t>
            </a:r>
            <a:r>
              <a:rPr lang="en-US" sz="1400" dirty="0" smtClean="0">
                <a:latin typeface="Times New Roman" pitchFamily="18" charset="0"/>
                <a:cs typeface="Times New Roman" pitchFamily="18" charset="0"/>
              </a:rPr>
              <a:t> / Raspberry Pi</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Temperature &amp; Humidity Sensor (DHT11/DHT22)</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Light Sensor (LDR)</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Camera Module</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Wi-Fi Module (built-in ESP32 or ESP8266)</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Power Supply</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Connecting wires and breadboard</a:t>
            </a: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lgn="ctr">
              <a:defRPr/>
            </a:pPr>
            <a:r>
              <a:rPr lang="en-US" altLang="en-US" dirty="0">
                <a:solidFill>
                  <a:srgbClr val="FFC000"/>
                </a:solidFill>
              </a:rPr>
              <a:t>Conclusion and Future Work</a:t>
            </a:r>
          </a:p>
        </p:txBody>
      </p:sp>
      <p:sp>
        <p:nvSpPr>
          <p:cNvPr id="22531" name="Rectangle 3"/>
          <p:cNvSpPr>
            <a:spLocks noGrp="1"/>
          </p:cNvSpPr>
          <p:nvPr>
            <p:ph idx="1"/>
          </p:nvPr>
        </p:nvSpPr>
        <p:spPr>
          <a:xfrm>
            <a:off x="457200" y="1200150"/>
            <a:ext cx="8229600" cy="3581400"/>
          </a:xfrm>
        </p:spPr>
        <p:txBody>
          <a:bodyPr/>
          <a:lstStyle/>
          <a:p>
            <a:pPr>
              <a:buNone/>
            </a:pPr>
            <a:endParaRPr lang="en-US" sz="1200" dirty="0" smtClean="0">
              <a:latin typeface="Times New Roman" pitchFamily="18" charset="0"/>
              <a:cs typeface="Times New Roman" pitchFamily="18" charset="0"/>
            </a:endParaRPr>
          </a:p>
          <a:p>
            <a:pPr>
              <a:buAutoNum type="arabicPeriod" startAt="5"/>
            </a:pPr>
            <a:endParaRPr lang="en-US" sz="1200" dirty="0" smtClean="0">
              <a:latin typeface="Times New Roman" pitchFamily="18" charset="0"/>
              <a:cs typeface="Times New Roman" pitchFamily="18" charset="0"/>
            </a:endParaRPr>
          </a:p>
          <a:p>
            <a:pPr>
              <a:buAutoNum type="arabicPeriod" startAt="5"/>
            </a:pPr>
            <a:endParaRPr lang="en-US" sz="1200" dirty="0" smtClean="0">
              <a:latin typeface="Times New Roman" pitchFamily="18" charset="0"/>
              <a:cs typeface="Times New Roman" pitchFamily="18" charset="0"/>
            </a:endParaRPr>
          </a:p>
          <a:p>
            <a:pPr>
              <a:buNone/>
            </a:pPr>
            <a:endParaRPr lang="en-US" sz="1200" dirty="0" smtClean="0">
              <a:latin typeface="Times New Roman" pitchFamily="18" charset="0"/>
              <a:cs typeface="Times New Roman" pitchFamily="18" charset="0"/>
            </a:endParaRPr>
          </a:p>
          <a:p>
            <a:pPr>
              <a:buNone/>
            </a:pPr>
            <a:endParaRPr lang="en-US" sz="1200" dirty="0" smtClean="0">
              <a:latin typeface="Times New Roman" pitchFamily="18" charset="0"/>
              <a:cs typeface="Times New Roman" pitchFamily="18" charset="0"/>
            </a:endParaRPr>
          </a:p>
          <a:p>
            <a:pPr>
              <a:buNone/>
            </a:pPr>
            <a:endParaRPr lang="en-US" sz="1200" dirty="0" smtClean="0">
              <a:latin typeface="Times New Roman" pitchFamily="18" charset="0"/>
              <a:cs typeface="Times New Roman" pitchFamily="18" charset="0"/>
            </a:endParaRPr>
          </a:p>
          <a:p>
            <a:pPr>
              <a:spcBef>
                <a:spcPct val="30000"/>
              </a:spcBef>
              <a:spcAft>
                <a:spcPct val="30000"/>
              </a:spcAft>
            </a:pPr>
            <a:endParaRPr lang="en-US" altLang="en-US" sz="1800" dirty="0" smtClean="0">
              <a:solidFill>
                <a:srgbClr val="0000FF"/>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pPr>
              <a:defRPr/>
            </a:pPr>
            <a:fld id="{C163FE90-D020-4B3E-8B4D-100D42E03330}" type="datetime3">
              <a:rPr lang="en-US" smtClean="0"/>
              <a:pPr>
                <a:defRPr/>
              </a:pPr>
              <a:t>10 April 2026</a:t>
            </a:fld>
            <a:endParaRPr lang="en-US" dirty="0"/>
          </a:p>
        </p:txBody>
      </p:sp>
      <p:sp>
        <p:nvSpPr>
          <p:cNvPr id="4" name="Footer Placeholder 3"/>
          <p:cNvSpPr>
            <a:spLocks noGrp="1"/>
          </p:cNvSpPr>
          <p:nvPr>
            <p:ph type="ftr" sz="quarter" idx="11"/>
          </p:nvPr>
        </p:nvSpPr>
        <p:spPr>
          <a:xfrm>
            <a:off x="2640013" y="4857750"/>
            <a:ext cx="5977514" cy="206375"/>
          </a:xfrm>
        </p:spPr>
        <p:txBody>
          <a:bodyPr/>
          <a:lstStyle/>
          <a:p>
            <a:pPr>
              <a:defRPr/>
            </a:pPr>
            <a:r>
              <a:rPr lang="en-US" dirty="0" smtClean="0"/>
              <a:t>BATCH NO: </a:t>
            </a:r>
            <a:r>
              <a:rPr lang="en-US" dirty="0" smtClean="0"/>
              <a:t>216         </a:t>
            </a:r>
            <a:r>
              <a:rPr lang="en-US" dirty="0" smtClean="0"/>
              <a:t>DEPARTMENT OF COMPUTER SCIENCE &amp; ENGINEERING </a:t>
            </a:r>
            <a:endParaRPr lang="en-US" dirty="0"/>
          </a:p>
        </p:txBody>
      </p:sp>
      <p:sp>
        <p:nvSpPr>
          <p:cNvPr id="22533" name="Slide Number Placeholder 3"/>
          <p:cNvSpPr>
            <a:spLocks noGrp="1" noChangeArrowheads="1"/>
          </p:cNvSpPr>
          <p:nvPr>
            <p:ph type="sldNum" sz="quarter" idx="12"/>
          </p:nvPr>
        </p:nvSpPr>
        <p:spPr bwMode="auto">
          <a:noFill/>
          <a:ln>
            <a:miter lim="800000"/>
            <a:headEnd/>
            <a:tailEnd/>
          </a:ln>
        </p:spPr>
        <p:txBody>
          <a:bodyPr>
            <a:normAutofit lnSpcReduction="10000"/>
          </a:bodyPr>
          <a:lstStyle/>
          <a:p>
            <a:fld id="{00166CF0-84B4-4016-8045-F92C16523328}" type="slidenum">
              <a:rPr lang="en-US" altLang="en-US"/>
              <a:pPr/>
              <a:t>16</a:t>
            </a:fld>
            <a:endParaRPr lang="en-US" altLang="en-US"/>
          </a:p>
        </p:txBody>
      </p:sp>
      <p:sp>
        <p:nvSpPr>
          <p:cNvPr id="7" name="TextBox 6"/>
          <p:cNvSpPr txBox="1"/>
          <p:nvPr/>
        </p:nvSpPr>
        <p:spPr>
          <a:xfrm>
            <a:off x="198510" y="1038224"/>
            <a:ext cx="9038359" cy="3016210"/>
          </a:xfrm>
          <a:prstGeom prst="rect">
            <a:avLst/>
          </a:prstGeom>
          <a:noFill/>
        </p:spPr>
        <p:txBody>
          <a:bodyPr wrap="square" rtlCol="0">
            <a:spAutoFit/>
          </a:bodyPr>
          <a:lstStyle/>
          <a:p>
            <a:r>
              <a:rPr lang="en-GB" b="1" dirty="0" smtClean="0">
                <a:latin typeface="Times New Roman" pitchFamily="18" charset="0"/>
                <a:cs typeface="Times New Roman" pitchFamily="18" charset="0"/>
              </a:rPr>
              <a:t>Conclusion</a:t>
            </a:r>
          </a:p>
          <a:p>
            <a:r>
              <a:rPr lang="en-GB" sz="1400" dirty="0" smtClean="0">
                <a:latin typeface="Times New Roman" pitchFamily="18" charset="0"/>
                <a:cs typeface="Times New Roman" pitchFamily="18" charset="0"/>
              </a:rPr>
              <a:t>• The Smart Rock Weathering &amp; Patina Formation Observation System provides continuous monitoring of environmental conditions affecting rock surfaces.</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system successfully collects sensor data and captures images for analyzing weathering and patina formation.</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Automated data logging and visualization help in long-term observation and comparison.</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proposed system reduces manual effort and improves monitoring accuracy.</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The project offers a low-cost and efficient solution for studying rock weathering.</a:t>
            </a:r>
          </a:p>
          <a:p>
            <a:r>
              <a:rPr lang="en-GB" b="1" dirty="0" smtClean="0">
                <a:latin typeface="Times New Roman" pitchFamily="18" charset="0"/>
                <a:cs typeface="Times New Roman" pitchFamily="18" charset="0"/>
              </a:rPr>
              <a:t>Future Work</a:t>
            </a:r>
          </a:p>
          <a:p>
            <a:r>
              <a:rPr lang="en-GB" sz="1400" dirty="0" smtClean="0">
                <a:latin typeface="Times New Roman" pitchFamily="18" charset="0"/>
                <a:cs typeface="Times New Roman" pitchFamily="18" charset="0"/>
              </a:rPr>
              <a:t>• Integration of more sensors such as rainfall and pollution sensors</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Implementation of advanced image processing techniques</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Development of mobile application for remote monitoring</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Use of machine learning for weathering prediction</a:t>
            </a:r>
            <a:br>
              <a:rPr lang="en-GB" sz="1400" dirty="0" smtClean="0">
                <a:latin typeface="Times New Roman" pitchFamily="18" charset="0"/>
                <a:cs typeface="Times New Roman" pitchFamily="18" charset="0"/>
              </a:rPr>
            </a:br>
            <a:r>
              <a:rPr lang="en-GB" sz="1400" dirty="0" smtClean="0">
                <a:latin typeface="Times New Roman" pitchFamily="18" charset="0"/>
                <a:cs typeface="Times New Roman" pitchFamily="18" charset="0"/>
              </a:rPr>
              <a:t>• Real-time alert system for significant rock surface changes</a:t>
            </a:r>
            <a:endParaRPr lang="en-GB"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dirty="0">
                <a:solidFill>
                  <a:srgbClr val="FFC000"/>
                </a:solidFill>
              </a:rPr>
              <a:t>References</a:t>
            </a:r>
            <a:br>
              <a:rPr lang="en-IN" dirty="0">
                <a:solidFill>
                  <a:srgbClr val="FFC000"/>
                </a:solidFill>
              </a:rPr>
            </a:br>
            <a:endParaRPr lang="en-IN" dirty="0">
              <a:solidFill>
                <a:srgbClr val="FFC000"/>
              </a:solidFill>
            </a:endParaRPr>
          </a:p>
        </p:txBody>
      </p:sp>
      <p:sp>
        <p:nvSpPr>
          <p:cNvPr id="3" name="Content Placeholder 2"/>
          <p:cNvSpPr>
            <a:spLocks noGrp="1"/>
          </p:cNvSpPr>
          <p:nvPr>
            <p:ph idx="1"/>
          </p:nvPr>
        </p:nvSpPr>
        <p:spPr/>
        <p:txBody>
          <a:bodyPr>
            <a:normAutofit/>
          </a:bodyPr>
          <a:lstStyle/>
          <a:p>
            <a:r>
              <a:rPr lang="en-US" sz="1400" dirty="0" smtClean="0">
                <a:latin typeface="Times New Roman" pitchFamily="18" charset="0"/>
                <a:cs typeface="Times New Roman" pitchFamily="18" charset="0"/>
              </a:rPr>
              <a:t>[1] M. Khan, M. S. Anwar and M. Othman, “An </a:t>
            </a:r>
            <a:r>
              <a:rPr lang="en-US" sz="1400" dirty="0" err="1" smtClean="0">
                <a:latin typeface="Times New Roman" pitchFamily="18" charset="0"/>
                <a:cs typeface="Times New Roman" pitchFamily="18" charset="0"/>
              </a:rPr>
              <a:t>IoT</a:t>
            </a:r>
            <a:r>
              <a:rPr lang="en-US" sz="1400" dirty="0" smtClean="0">
                <a:latin typeface="Times New Roman" pitchFamily="18" charset="0"/>
                <a:cs typeface="Times New Roman" pitchFamily="18" charset="0"/>
              </a:rPr>
              <a:t>-based weather monitoring system for environmental data analysis,” </a:t>
            </a:r>
            <a:r>
              <a:rPr lang="en-US" sz="1400" i="1" dirty="0" smtClean="0">
                <a:latin typeface="Times New Roman" pitchFamily="18" charset="0"/>
                <a:cs typeface="Times New Roman" pitchFamily="18" charset="0"/>
              </a:rPr>
              <a:t>IEEE Internet of Things Journal</a:t>
            </a:r>
            <a:r>
              <a:rPr lang="en-US" sz="1400" dirty="0" smtClean="0">
                <a:latin typeface="Times New Roman" pitchFamily="18" charset="0"/>
                <a:cs typeface="Times New Roman" pitchFamily="18" charset="0"/>
              </a:rPr>
              <a:t>, vol. 7, no. 3, pp. 1813-1822, Mar. 2020. </a:t>
            </a:r>
          </a:p>
          <a:p>
            <a:r>
              <a:rPr lang="en-US" sz="1400" dirty="0" smtClean="0">
                <a:latin typeface="Times New Roman" pitchFamily="18" charset="0"/>
                <a:cs typeface="Times New Roman" pitchFamily="18" charset="0"/>
              </a:rPr>
              <a:t>[2] S. Kumar and A. Jain, “</a:t>
            </a:r>
            <a:r>
              <a:rPr lang="en-US" sz="1400" dirty="0" err="1" smtClean="0">
                <a:latin typeface="Times New Roman" pitchFamily="18" charset="0"/>
                <a:cs typeface="Times New Roman" pitchFamily="18" charset="0"/>
              </a:rPr>
              <a:t>IoT</a:t>
            </a:r>
            <a:r>
              <a:rPr lang="en-US" sz="1400" dirty="0" smtClean="0">
                <a:latin typeface="Times New Roman" pitchFamily="18" charset="0"/>
                <a:cs typeface="Times New Roman" pitchFamily="18" charset="0"/>
              </a:rPr>
              <a:t> based weather monitoring system,” in </a:t>
            </a:r>
            <a:r>
              <a:rPr lang="en-US" sz="1400" i="1" dirty="0" smtClean="0">
                <a:latin typeface="Times New Roman" pitchFamily="18" charset="0"/>
                <a:cs typeface="Times New Roman" pitchFamily="18" charset="0"/>
              </a:rPr>
              <a:t>Proc. IEEE 2nd Int. Conf. Electrical, Electronics and Computer Science (ICEECS)</a:t>
            </a:r>
            <a:r>
              <a:rPr lang="en-US" sz="1400" dirty="0" smtClean="0">
                <a:latin typeface="Times New Roman" pitchFamily="18" charset="0"/>
                <a:cs typeface="Times New Roman" pitchFamily="18" charset="0"/>
              </a:rPr>
              <a:t>, Bangalore, India, 2020, pp. 285-290. </a:t>
            </a:r>
          </a:p>
          <a:p>
            <a:r>
              <a:rPr lang="en-US" sz="1400" dirty="0" smtClean="0">
                <a:latin typeface="Times New Roman" pitchFamily="18" charset="0"/>
                <a:cs typeface="Times New Roman" pitchFamily="18" charset="0"/>
              </a:rPr>
              <a:t>[3] H.-S. Li, S. A. S. </a:t>
            </a:r>
            <a:r>
              <a:rPr lang="en-US" sz="1400" dirty="0" err="1" smtClean="0">
                <a:latin typeface="Times New Roman" pitchFamily="18" charset="0"/>
                <a:cs typeface="Times New Roman" pitchFamily="18" charset="0"/>
              </a:rPr>
              <a:t>Srinivas</a:t>
            </a:r>
            <a:r>
              <a:rPr lang="en-US" sz="1400" dirty="0" smtClean="0">
                <a:latin typeface="Times New Roman" pitchFamily="18" charset="0"/>
                <a:cs typeface="Times New Roman" pitchFamily="18" charset="0"/>
              </a:rPr>
              <a:t> Kumar and A. R. Singh, “Weather monitoring using </a:t>
            </a:r>
            <a:r>
              <a:rPr lang="en-US" sz="1400" dirty="0" err="1" smtClean="0">
                <a:latin typeface="Times New Roman" pitchFamily="18" charset="0"/>
                <a:cs typeface="Times New Roman" pitchFamily="18" charset="0"/>
              </a:rPr>
              <a:t>IoT</a:t>
            </a:r>
            <a:r>
              <a:rPr lang="en-US" sz="1400" dirty="0" smtClean="0">
                <a:latin typeface="Times New Roman" pitchFamily="18" charset="0"/>
                <a:cs typeface="Times New Roman" pitchFamily="18" charset="0"/>
              </a:rPr>
              <a:t> system,” in </a:t>
            </a:r>
            <a:r>
              <a:rPr lang="en-US" sz="1400" i="1" dirty="0" smtClean="0">
                <a:latin typeface="Times New Roman" pitchFamily="18" charset="0"/>
                <a:cs typeface="Times New Roman" pitchFamily="18" charset="0"/>
              </a:rPr>
              <a:t>IEEE Int. Conf. Computing, Communication, Control and Automation</a:t>
            </a:r>
            <a:r>
              <a:rPr lang="en-US" sz="1400" dirty="0" smtClean="0">
                <a:latin typeface="Times New Roman" pitchFamily="18" charset="0"/>
                <a:cs typeface="Times New Roman" pitchFamily="18" charset="0"/>
              </a:rPr>
              <a:t>, New Delhi, India, 2019, pp. 94-99. </a:t>
            </a:r>
          </a:p>
          <a:p>
            <a:r>
              <a:rPr lang="en-US" sz="1400" dirty="0" smtClean="0">
                <a:latin typeface="Times New Roman" pitchFamily="18" charset="0"/>
                <a:cs typeface="Times New Roman" pitchFamily="18" charset="0"/>
              </a:rPr>
              <a:t>[4] S. </a:t>
            </a:r>
            <a:r>
              <a:rPr lang="en-US" sz="1400" dirty="0" err="1" smtClean="0">
                <a:latin typeface="Times New Roman" pitchFamily="18" charset="0"/>
                <a:cs typeface="Times New Roman" pitchFamily="18" charset="0"/>
              </a:rPr>
              <a:t>Stoyanov</a:t>
            </a:r>
            <a:r>
              <a:rPr lang="en-US" sz="1400" dirty="0" smtClean="0">
                <a:latin typeface="Times New Roman" pitchFamily="18" charset="0"/>
                <a:cs typeface="Times New Roman" pitchFamily="18" charset="0"/>
              </a:rPr>
              <a:t>, Z. </a:t>
            </a:r>
            <a:r>
              <a:rPr lang="en-US" sz="1400" dirty="0" err="1" smtClean="0">
                <a:latin typeface="Times New Roman" pitchFamily="18" charset="0"/>
                <a:cs typeface="Times New Roman" pitchFamily="18" charset="0"/>
              </a:rPr>
              <a:t>Kuzmanov</a:t>
            </a:r>
            <a:r>
              <a:rPr lang="en-US" sz="1400" dirty="0" smtClean="0">
                <a:latin typeface="Times New Roman" pitchFamily="18" charset="0"/>
                <a:cs typeface="Times New Roman" pitchFamily="18" charset="0"/>
              </a:rPr>
              <a:t> and T. </a:t>
            </a:r>
            <a:r>
              <a:rPr lang="en-US" sz="1400" dirty="0" err="1" smtClean="0">
                <a:latin typeface="Times New Roman" pitchFamily="18" charset="0"/>
                <a:cs typeface="Times New Roman" pitchFamily="18" charset="0"/>
              </a:rPr>
              <a:t>Stoyanova</a:t>
            </a:r>
            <a:r>
              <a:rPr lang="en-US" sz="1400" dirty="0" smtClean="0">
                <a:latin typeface="Times New Roman" pitchFamily="18" charset="0"/>
                <a:cs typeface="Times New Roman" pitchFamily="18" charset="0"/>
              </a:rPr>
              <a:t>, “Weather Monitoring System Using </a:t>
            </a:r>
            <a:r>
              <a:rPr lang="en-US" sz="1400" dirty="0" err="1" smtClean="0">
                <a:latin typeface="Times New Roman" pitchFamily="18" charset="0"/>
                <a:cs typeface="Times New Roman" pitchFamily="18" charset="0"/>
              </a:rPr>
              <a:t>IoT</a:t>
            </a:r>
            <a:r>
              <a:rPr lang="en-US" sz="1400" dirty="0" smtClean="0">
                <a:latin typeface="Times New Roman" pitchFamily="18" charset="0"/>
                <a:cs typeface="Times New Roman" pitchFamily="18" charset="0"/>
              </a:rPr>
              <a:t>-based DIY Automatic Weather Station,” in </a:t>
            </a:r>
            <a:r>
              <a:rPr lang="en-US" sz="1400" i="1" dirty="0" smtClean="0">
                <a:latin typeface="Times New Roman" pitchFamily="18" charset="0"/>
                <a:cs typeface="Times New Roman" pitchFamily="18" charset="0"/>
              </a:rPr>
              <a:t>Proc. 2024 IEEE Int. Conf. Energy Efficiency and Agricultural Engineering</a:t>
            </a:r>
            <a:r>
              <a:rPr lang="en-US" sz="1400" dirty="0" smtClean="0">
                <a:latin typeface="Times New Roman" pitchFamily="18" charset="0"/>
                <a:cs typeface="Times New Roman" pitchFamily="18" charset="0"/>
              </a:rPr>
              <a:t>, 2024. </a:t>
            </a:r>
          </a:p>
          <a:p>
            <a:r>
              <a:rPr lang="en-US" sz="1400" dirty="0" smtClean="0">
                <a:latin typeface="Times New Roman" pitchFamily="18" charset="0"/>
                <a:cs typeface="Times New Roman" pitchFamily="18" charset="0"/>
              </a:rPr>
              <a:t>[5] D. S. </a:t>
            </a:r>
            <a:r>
              <a:rPr lang="en-US" sz="1400" dirty="0" err="1" smtClean="0">
                <a:latin typeface="Times New Roman" pitchFamily="18" charset="0"/>
                <a:cs typeface="Times New Roman" pitchFamily="18" charset="0"/>
              </a:rPr>
              <a:t>Mavromatis</a:t>
            </a:r>
            <a:r>
              <a:rPr lang="en-US" sz="1400" dirty="0" smtClean="0">
                <a:latin typeface="Times New Roman" pitchFamily="18" charset="0"/>
                <a:cs typeface="Times New Roman" pitchFamily="18" charset="0"/>
              </a:rPr>
              <a:t>, D. K. </a:t>
            </a:r>
            <a:r>
              <a:rPr lang="en-US" sz="1400" dirty="0" err="1" smtClean="0">
                <a:latin typeface="Times New Roman" pitchFamily="18" charset="0"/>
                <a:cs typeface="Times New Roman" pitchFamily="18" charset="0"/>
              </a:rPr>
              <a:t>Mavromatis</a:t>
            </a:r>
            <a:r>
              <a:rPr lang="en-US" sz="1400" dirty="0" smtClean="0">
                <a:latin typeface="Times New Roman" pitchFamily="18" charset="0"/>
                <a:cs typeface="Times New Roman" pitchFamily="18" charset="0"/>
              </a:rPr>
              <a:t> and C. A. </a:t>
            </a:r>
            <a:r>
              <a:rPr lang="en-US" sz="1400" dirty="0" err="1" smtClean="0">
                <a:latin typeface="Times New Roman" pitchFamily="18" charset="0"/>
                <a:cs typeface="Times New Roman" pitchFamily="18" charset="0"/>
              </a:rPr>
              <a:t>Balanis</a:t>
            </a:r>
            <a:r>
              <a:rPr lang="en-US" sz="1400" dirty="0" smtClean="0">
                <a:latin typeface="Times New Roman" pitchFamily="18" charset="0"/>
                <a:cs typeface="Times New Roman" pitchFamily="18" charset="0"/>
              </a:rPr>
              <a:t>, “Internet of Things (</a:t>
            </a:r>
            <a:r>
              <a:rPr lang="en-US" sz="1400" dirty="0" err="1" smtClean="0">
                <a:latin typeface="Times New Roman" pitchFamily="18" charset="0"/>
                <a:cs typeface="Times New Roman" pitchFamily="18" charset="0"/>
              </a:rPr>
              <a:t>IoT</a:t>
            </a:r>
            <a:r>
              <a:rPr lang="en-US" sz="1400" dirty="0" smtClean="0">
                <a:latin typeface="Times New Roman" pitchFamily="18" charset="0"/>
                <a:cs typeface="Times New Roman" pitchFamily="18" charset="0"/>
              </a:rPr>
              <a:t>)-based weather monitoring system,” </a:t>
            </a:r>
            <a:r>
              <a:rPr lang="en-US" sz="1400" i="1" dirty="0" smtClean="0">
                <a:latin typeface="Times New Roman" pitchFamily="18" charset="0"/>
                <a:cs typeface="Times New Roman" pitchFamily="18" charset="0"/>
              </a:rPr>
              <a:t>IEEE Transactions on Industrial Informatics</a:t>
            </a:r>
            <a:r>
              <a:rPr lang="en-US" sz="1400" dirty="0" smtClean="0">
                <a:latin typeface="Times New Roman" pitchFamily="18" charset="0"/>
                <a:cs typeface="Times New Roman" pitchFamily="18" charset="0"/>
              </a:rPr>
              <a:t>, vol. 16, no. 1, pp. 102-113, Jan. 2020. </a:t>
            </a:r>
          </a:p>
          <a:p>
            <a:pPr marL="119062" indent="0">
              <a:buNone/>
            </a:pPr>
            <a:endParaRPr lang="en-IN" sz="1400"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pPr>
              <a:defRPr/>
            </a:pPr>
            <a:fld id="{C3AC3EE8-985B-42B6-9937-3D92CBED937D}" type="datetime3">
              <a:rPr lang="en-US" smtClean="0"/>
              <a:pPr>
                <a:defRPr/>
              </a:pPr>
              <a:t>10 April 2026</a:t>
            </a:fld>
            <a:endParaRPr lang="en-US" dirty="0"/>
          </a:p>
        </p:txBody>
      </p:sp>
      <p:sp>
        <p:nvSpPr>
          <p:cNvPr id="8" name="Footer Placeholder 7"/>
          <p:cNvSpPr>
            <a:spLocks noGrp="1"/>
          </p:cNvSpPr>
          <p:nvPr>
            <p:ph type="ftr" sz="quarter" idx="11"/>
          </p:nvPr>
        </p:nvSpPr>
        <p:spPr>
          <a:xfrm>
            <a:off x="2640013" y="4857750"/>
            <a:ext cx="5963660"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5" name="Slide Number Placeholder 4"/>
          <p:cNvSpPr>
            <a:spLocks noGrp="1"/>
          </p:cNvSpPr>
          <p:nvPr>
            <p:ph type="sldNum" sz="quarter" idx="12"/>
          </p:nvPr>
        </p:nvSpPr>
        <p:spPr/>
        <p:txBody>
          <a:bodyPr>
            <a:normAutofit lnSpcReduction="10000"/>
          </a:bodyPr>
          <a:lstStyle/>
          <a:p>
            <a:pPr>
              <a:defRPr/>
            </a:pPr>
            <a:fld id="{0E14ABD8-B1EB-4C07-9937-C8C4E38BDF00}" type="slidenum">
              <a:rPr lang="en-US" altLang="en-US" smtClean="0"/>
              <a:pPr>
                <a:defRPr/>
              </a:pPr>
              <a:t>17</a:t>
            </a:fld>
            <a:endParaRPr lang="en-US" altLang="en-US"/>
          </a:p>
        </p:txBody>
      </p:sp>
    </p:spTree>
    <p:extLst>
      <p:ext uri="{BB962C8B-B14F-4D97-AF65-F5344CB8AC3E}">
        <p14:creationId xmlns:p14="http://schemas.microsoft.com/office/powerpoint/2010/main" xmlns="" val="1653415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119062" indent="0" algn="ctr">
              <a:buNone/>
            </a:pPr>
            <a:endParaRPr lang="en-US" b="1" dirty="0" smtClean="0"/>
          </a:p>
          <a:p>
            <a:pPr marL="119062" indent="0" algn="ctr">
              <a:buNone/>
            </a:pPr>
            <a:endParaRPr lang="en-US" b="1" dirty="0"/>
          </a:p>
          <a:p>
            <a:pPr marL="119062" indent="0" algn="ctr">
              <a:buNone/>
            </a:pPr>
            <a:endParaRPr lang="en-US" b="1" dirty="0" smtClean="0"/>
          </a:p>
          <a:p>
            <a:pPr marL="119062" indent="0" algn="ctr">
              <a:buNone/>
            </a:pPr>
            <a:r>
              <a:rPr lang="en-US" b="1" dirty="0" smtClean="0"/>
              <a:t>THANK YOU</a:t>
            </a:r>
            <a:endParaRPr lang="en-IN" b="1" dirty="0"/>
          </a:p>
        </p:txBody>
      </p:sp>
      <p:sp>
        <p:nvSpPr>
          <p:cNvPr id="6" name="Date Placeholder 5"/>
          <p:cNvSpPr>
            <a:spLocks noGrp="1"/>
          </p:cNvSpPr>
          <p:nvPr>
            <p:ph type="dt" sz="half" idx="10"/>
          </p:nvPr>
        </p:nvSpPr>
        <p:spPr/>
        <p:txBody>
          <a:bodyPr/>
          <a:lstStyle/>
          <a:p>
            <a:pPr>
              <a:defRPr/>
            </a:pPr>
            <a:fld id="{5AC31F9E-9B9F-4BF0-AFD1-DE8B874A094F}" type="datetime3">
              <a:rPr lang="en-US" smtClean="0"/>
              <a:pPr>
                <a:defRPr/>
              </a:pPr>
              <a:t>10 April 2026</a:t>
            </a:fld>
            <a:endParaRPr lang="en-US" dirty="0"/>
          </a:p>
        </p:txBody>
      </p:sp>
      <p:sp>
        <p:nvSpPr>
          <p:cNvPr id="8" name="Footer Placeholder 7"/>
          <p:cNvSpPr>
            <a:spLocks noGrp="1"/>
          </p:cNvSpPr>
          <p:nvPr>
            <p:ph type="ftr" sz="quarter" idx="11"/>
          </p:nvPr>
        </p:nvSpPr>
        <p:spPr>
          <a:xfrm>
            <a:off x="2043545" y="4857750"/>
            <a:ext cx="6105093" cy="206375"/>
          </a:xfrm>
        </p:spPr>
        <p:txBody>
          <a:bodyPr/>
          <a:lstStyle/>
          <a:p>
            <a:pPr>
              <a:defRPr/>
            </a:pPr>
            <a:r>
              <a:rPr lang="en-US" dirty="0" smtClean="0"/>
              <a:t>BATCH </a:t>
            </a:r>
            <a:r>
              <a:rPr lang="en-US" dirty="0" smtClean="0"/>
              <a:t>NO:216          </a:t>
            </a:r>
            <a:r>
              <a:rPr lang="en-US" dirty="0" smtClean="0"/>
              <a:t>DEPARTMENT OF COMPUTER SCIENCE &amp; ENGINEERING </a:t>
            </a:r>
            <a:endParaRPr lang="en-US" dirty="0"/>
          </a:p>
        </p:txBody>
      </p:sp>
      <p:sp>
        <p:nvSpPr>
          <p:cNvPr id="5" name="Slide Number Placeholder 4"/>
          <p:cNvSpPr>
            <a:spLocks noGrp="1"/>
          </p:cNvSpPr>
          <p:nvPr>
            <p:ph type="sldNum" sz="quarter" idx="12"/>
          </p:nvPr>
        </p:nvSpPr>
        <p:spPr/>
        <p:txBody>
          <a:bodyPr>
            <a:normAutofit lnSpcReduction="10000"/>
          </a:bodyPr>
          <a:lstStyle/>
          <a:p>
            <a:pPr>
              <a:defRPr/>
            </a:pPr>
            <a:fld id="{0E14ABD8-B1EB-4C07-9937-C8C4E38BDF00}" type="slidenum">
              <a:rPr lang="en-US" altLang="en-US" smtClean="0"/>
              <a:pPr>
                <a:defRPr/>
              </a:pPr>
              <a:t>18</a:t>
            </a:fld>
            <a:endParaRPr lang="en-US" altLang="en-US"/>
          </a:p>
        </p:txBody>
      </p:sp>
    </p:spTree>
    <p:extLst>
      <p:ext uri="{BB962C8B-B14F-4D97-AF65-F5344CB8AC3E}">
        <p14:creationId xmlns:p14="http://schemas.microsoft.com/office/powerpoint/2010/main" xmlns="" val="39481092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394</TotalTime>
  <Words>1667</Words>
  <Application>Microsoft Office PowerPoint</Application>
  <PresentationFormat>On-screen Show (16:9)</PresentationFormat>
  <Paragraphs>183</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Design &amp; development of a Smart Rock Weathering &amp; Patina Formation Observation System </vt:lpstr>
      <vt:lpstr>Introduction</vt:lpstr>
      <vt:lpstr>Literature Survey </vt:lpstr>
      <vt:lpstr>Problem Statement </vt:lpstr>
      <vt:lpstr>Proposed Methodology</vt:lpstr>
      <vt:lpstr>Proposed System Architecture</vt:lpstr>
      <vt:lpstr>Summary of Module -1  </vt:lpstr>
      <vt:lpstr>Summary of   Module -2  </vt:lpstr>
      <vt:lpstr>Summary of  Modules -3  </vt:lpstr>
      <vt:lpstr>Summary of   Modules -4  </vt:lpstr>
      <vt:lpstr> Implementation Details </vt:lpstr>
      <vt:lpstr>Testing &amp; Validation </vt:lpstr>
      <vt:lpstr>Preliminary Results &amp; Analysis </vt:lpstr>
      <vt:lpstr>Software &amp; Hardware Requirements  Specification </vt:lpstr>
      <vt:lpstr>Conclusion and Future Work</vt:lpstr>
      <vt:lpstr>References </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36</cp:revision>
  <dcterms:modified xsi:type="dcterms:W3CDTF">2026-04-10T17:59:21Z</dcterms:modified>
</cp:coreProperties>
</file>